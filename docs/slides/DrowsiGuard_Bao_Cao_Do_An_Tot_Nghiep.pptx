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 type="wide"/>
  <p:notesSz cx="6858000" cy="9144000"/>
  <p:defaultTextStyle>
    <a:defPPr>
      <a:defRPr lang="vi-VN"/>
    </a:def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ableStyles" Target="tableStyles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B2A"/>
          </a:solidFill>
          <a:ln w="9525">
            <a:solidFill>
              <a:srgbClr val="061B2A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4" name="Shape 4"/>
          <p:cNvSpPr/>
          <p:nvPr/>
        </p:nvSpPr>
        <p:spPr>
          <a:xfrm>
            <a:off x="530352" y="347472"/>
            <a:ext cx="103327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800" b="1">
                <a:solidFill>
                  <a:srgbClr val="85E4D2"/>
                </a:solidFill>
              </a:rPr>
              <a:t>BÁO CÁO ĐỒ ÁN TỐT NGHIỆP</a:t>
            </a:r>
          </a:p>
        </p:txBody>
      </p:sp>
      <p:sp>
        <p:nvSpPr>
          <p:cNvPr id="5" name="Shape 5"/>
          <p:cNvSpPr/>
          <p:nvPr/>
        </p:nvSpPr>
        <p:spPr>
          <a:xfrm>
            <a:off x="502920" y="566928"/>
            <a:ext cx="10698480" cy="56692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2500" b="1">
                <a:solidFill>
                  <a:srgbClr val="FFFFFF"/>
                </a:solidFill>
              </a:rPr>
              <a:t>DrowsiGuard</a:t>
            </a:r>
          </a:p>
        </p:txBody>
      </p:sp>
      <p:sp>
        <p:nvSpPr>
          <p:cNvPr id="6" name="Shape 6"/>
          <p:cNvSpPr/>
          <p:nvPr/>
        </p:nvSpPr>
        <p:spPr>
          <a:xfrm>
            <a:off x="10771632" y="6327648"/>
            <a:ext cx="841248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mid"/>
          <a:lstStyle/>
          <a:p>
            <a:pPr algn="r"/>
            <a:r>
              <a:rPr lang="vi-VN" sz="1000" b="1">
                <a:solidFill>
                  <a:srgbClr val="B8D7DF"/>
                </a:solidFill>
              </a:rPr>
              <a:t>01</a:t>
            </a:r>
          </a:p>
        </p:txBody>
      </p:sp>
      <p:sp>
        <p:nvSpPr>
          <p:cNvPr id="7" name="Shape 7"/>
          <p:cNvSpPr/>
          <p:nvPr/>
        </p:nvSpPr>
        <p:spPr>
          <a:xfrm>
            <a:off x="640080" y="1417320"/>
            <a:ext cx="786384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2800" b="1">
                <a:solidFill>
                  <a:srgbClr val="FFFFFF"/>
                </a:solidFill>
              </a:rPr>
              <a:t>Hệ thống cảnh báo buồn ngủ tài xế</a:t>
            </a:r>
          </a:p>
        </p:txBody>
      </p:sp>
      <p:sp>
        <p:nvSpPr>
          <p:cNvPr id="8" name="Shape 8"/>
          <p:cNvSpPr/>
          <p:nvPr/>
        </p:nvSpPr>
        <p:spPr>
          <a:xfrm>
            <a:off x="658368" y="2157984"/>
            <a:ext cx="8046720" cy="329184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mid"/>
          <a:lstStyle/>
          <a:p>
            <a:pPr algn="l"/>
            <a:r>
              <a:rPr lang="vi-VN" sz="1500">
                <a:solidFill>
                  <a:srgbClr val="D8F0F5"/>
                </a:solidFill>
              </a:rPr>
              <a:t>Jetson Nano • Camera • RFID • GPS • Monitoring Hub thời gian thực</a:t>
            </a:r>
          </a:p>
        </p:txBody>
      </p:sp>
      <p:sp>
        <p:nvSpPr>
          <p:cNvPr id="9" name="Shape 9"/>
          <p:cNvSpPr/>
          <p:nvPr/>
        </p:nvSpPr>
        <p:spPr>
          <a:xfrm>
            <a:off x="685800" y="2971800"/>
            <a:ext cx="1920240" cy="566928"/>
          </a:xfrm>
          <a:prstGeom prst="roundRect">
            <a:avLst/>
          </a:prstGeom>
          <a:solidFill>
            <a:srgbClr val="0F766E"/>
          </a:solidFill>
          <a:ln w="9525">
            <a:solidFill>
              <a:srgbClr val="50D6C2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500" b="1">
                <a:solidFill>
                  <a:srgbClr val="FFFFFF"/>
                </a:solidFill>
              </a:rPr>
              <a:t>Edge Runtime</a:t>
            </a:r>
            <a:br/>
            <a:r>
              <a:rPr lang="vi-VN" sz="1500" b="1">
                <a:solidFill>
                  <a:srgbClr val="FFFFFF"/>
                </a:solidFill>
              </a:rPr>
              <a:t>trên xe</a:t>
            </a:r>
          </a:p>
        </p:txBody>
      </p:sp>
      <p:sp>
        <p:nvSpPr>
          <p:cNvPr id="10" name="Shape 10"/>
          <p:cNvSpPr/>
          <p:nvPr/>
        </p:nvSpPr>
        <p:spPr>
          <a:xfrm>
            <a:off x="3063240" y="2971800"/>
            <a:ext cx="1920240" cy="566928"/>
          </a:xfrm>
          <a:prstGeom prst="roundRect">
            <a:avLst/>
          </a:prstGeom>
          <a:solidFill>
            <a:srgbClr val="123047"/>
          </a:solidFill>
          <a:ln w="9525">
            <a:solidFill>
              <a:srgbClr val="50D6C2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500" b="1">
                <a:solidFill>
                  <a:srgbClr val="FFFFFF"/>
                </a:solidFill>
              </a:rPr>
              <a:t>WebSocket</a:t>
            </a:r>
            <a:br/>
            <a:r>
              <a:rPr lang="vi-VN" sz="1500" b="1">
                <a:solidFill>
                  <a:srgbClr val="FFFFFF"/>
                </a:solidFill>
              </a:rPr>
              <a:t>realtime</a:t>
            </a:r>
          </a:p>
        </p:txBody>
      </p:sp>
      <p:sp>
        <p:nvSpPr>
          <p:cNvPr id="11" name="Shape 11"/>
          <p:cNvSpPr/>
          <p:nvPr/>
        </p:nvSpPr>
        <p:spPr>
          <a:xfrm>
            <a:off x="5440680" y="2971800"/>
            <a:ext cx="1920240" cy="566928"/>
          </a:xfrm>
          <a:prstGeom prst="roundRect">
            <a:avLst/>
          </a:prstGeom>
          <a:solidFill>
            <a:srgbClr val="0F766E"/>
          </a:solidFill>
          <a:ln w="9525">
            <a:solidFill>
              <a:srgbClr val="50D6C2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500" b="1">
                <a:solidFill>
                  <a:srgbClr val="FFFFFF"/>
                </a:solidFill>
              </a:rPr>
              <a:t>Monitoring Hub</a:t>
            </a:r>
            <a:br/>
            <a:r>
              <a:rPr lang="vi-VN" sz="1500" b="1">
                <a:solidFill>
                  <a:srgbClr val="FFFFFF"/>
                </a:solidFill>
              </a:rPr>
              <a:t>trung tâm</a:t>
            </a:r>
          </a:p>
        </p:txBody>
      </p:sp>
      <p:cxnSp>
        <p:nvCxnSpPr>
          <p:cNvPr id="12" name="Connector 12"/>
          <p:cNvCxnSpPr/>
          <p:nvPr/>
        </p:nvCxnSpPr>
        <p:spPr>
          <a:xfrm>
            <a:off x="2651760" y="3255264"/>
            <a:ext cx="329184" cy="0"/>
          </a:xfrm>
          <a:prstGeom prst="line">
            <a:avLst/>
          </a:prstGeom>
          <a:ln w="21590">
            <a:solidFill>
              <a:srgbClr val="85E4D2"/>
            </a:solidFill>
            <a:headEnd type="triangle"/>
          </a:ln>
        </p:spPr>
      </p:cxnSp>
      <p:cxnSp>
        <p:nvCxnSpPr>
          <p:cNvPr id="13" name="Connector 13"/>
          <p:cNvCxnSpPr/>
          <p:nvPr/>
        </p:nvCxnSpPr>
        <p:spPr>
          <a:xfrm>
            <a:off x="5029200" y="3255264"/>
            <a:ext cx="329184" cy="0"/>
          </a:xfrm>
          <a:prstGeom prst="line">
            <a:avLst/>
          </a:prstGeom>
          <a:ln w="21590">
            <a:solidFill>
              <a:srgbClr val="85E4D2"/>
            </a:solidFill>
            <a:headEnd type="triangle"/>
          </a:ln>
        </p:spPr>
      </p:cxnSp>
      <p:sp>
        <p:nvSpPr>
          <p:cNvPr id="14" name="Shape 14"/>
          <p:cNvSpPr/>
          <p:nvPr/>
        </p:nvSpPr>
        <p:spPr>
          <a:xfrm>
            <a:off x="685800" y="5138928"/>
            <a:ext cx="457200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mid"/>
          <a:lstStyle/>
          <a:p>
            <a:pPr algn="l"/>
            <a:r>
              <a:rPr lang="vi-VN" sz="1600" b="1">
                <a:solidFill>
                  <a:srgbClr val="FFFFFF"/>
                </a:solidFill>
              </a:rPr>
              <a:t>Sinh viên: Bùi Minh Tùng</a:t>
            </a:r>
          </a:p>
        </p:txBody>
      </p:sp>
      <p:sp>
        <p:nvSpPr>
          <p:cNvPr id="15" name="Shape 15"/>
          <p:cNvSpPr/>
          <p:nvPr/>
        </p:nvSpPr>
        <p:spPr>
          <a:xfrm>
            <a:off x="685800" y="5486400"/>
            <a:ext cx="64008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mid"/>
          <a:lstStyle/>
          <a:p>
            <a:pPr algn="l"/>
            <a:r>
              <a:rPr lang="vi-VN" sz="1200">
                <a:solidFill>
                  <a:srgbClr val="B8D7DF"/>
                </a:solidFill>
              </a:rPr>
              <a:t>GVHD / Khoa / Lớp: chỉnh lại theo thông tin chính thức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9525">
            <a:solidFill>
              <a:srgbClr val="F7FBFC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4" name="Shape 4"/>
          <p:cNvSpPr/>
          <p:nvPr/>
        </p:nvSpPr>
        <p:spPr>
          <a:xfrm>
            <a:off x="530352" y="347472"/>
            <a:ext cx="103327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800" b="1">
                <a:solidFill>
                  <a:srgbClr val="0F766E"/>
                </a:solidFill>
              </a:rPr>
              <a:t>AGENDA</a:t>
            </a:r>
          </a:p>
        </p:txBody>
      </p:sp>
      <p:sp>
        <p:nvSpPr>
          <p:cNvPr id="5" name="Shape 5"/>
          <p:cNvSpPr/>
          <p:nvPr/>
        </p:nvSpPr>
        <p:spPr>
          <a:xfrm>
            <a:off x="502920" y="566928"/>
            <a:ext cx="10698480" cy="56692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2500" b="1">
                <a:solidFill>
                  <a:srgbClr val="0B2E4A"/>
                </a:solidFill>
              </a:rPr>
              <a:t>Nội dung báo cáo</a:t>
            </a:r>
          </a:p>
        </p:txBody>
      </p:sp>
      <p:sp>
        <p:nvSpPr>
          <p:cNvPr id="6" name="Shape 6"/>
          <p:cNvSpPr/>
          <p:nvPr/>
        </p:nvSpPr>
        <p:spPr>
          <a:xfrm>
            <a:off x="10771632" y="6327648"/>
            <a:ext cx="841248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mid"/>
          <a:lstStyle/>
          <a:p>
            <a:pPr algn="r"/>
            <a:r>
              <a:rPr lang="vi-VN" sz="1000" b="1">
                <a:solidFill>
                  <a:srgbClr val="5C7486"/>
                </a:solidFill>
              </a:rPr>
              <a:t>02</a:t>
            </a:r>
          </a:p>
        </p:txBody>
      </p:sp>
      <p:sp>
        <p:nvSpPr>
          <p:cNvPr id="7" name="Shape 7"/>
          <p:cNvSpPr/>
          <p:nvPr/>
        </p:nvSpPr>
        <p:spPr>
          <a:xfrm>
            <a:off x="777240" y="1417320"/>
            <a:ext cx="475488" cy="475488"/>
          </a:xfrm>
          <a:prstGeom prst="round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Shape 8"/>
          <p:cNvSpPr/>
          <p:nvPr/>
        </p:nvSpPr>
        <p:spPr>
          <a:xfrm>
            <a:off x="1444752" y="1499616"/>
            <a:ext cx="896112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mid"/>
          <a:lstStyle/>
          <a:p>
            <a:pPr algn="l"/>
            <a:r>
              <a:rPr lang="vi-VN" sz="1900" b="1">
                <a:solidFill>
                  <a:srgbClr val="123047"/>
                </a:solidFill>
              </a:rPr>
              <a:t>Bài toán, mục tiêu và phạm vi</a:t>
            </a:r>
          </a:p>
        </p:txBody>
      </p:sp>
      <p:sp>
        <p:nvSpPr>
          <p:cNvPr id="9" name="Shape 9"/>
          <p:cNvSpPr/>
          <p:nvPr/>
        </p:nvSpPr>
        <p:spPr>
          <a:xfrm>
            <a:off x="777240" y="2167128"/>
            <a:ext cx="475488" cy="475488"/>
          </a:xfrm>
          <a:prstGeom prst="round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Shape 10"/>
          <p:cNvSpPr/>
          <p:nvPr/>
        </p:nvSpPr>
        <p:spPr>
          <a:xfrm>
            <a:off x="1444752" y="2249424"/>
            <a:ext cx="896112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mid"/>
          <a:lstStyle/>
          <a:p>
            <a:pPr algn="l"/>
            <a:r>
              <a:rPr lang="vi-VN" sz="1900">
                <a:solidFill>
                  <a:srgbClr val="123047"/>
                </a:solidFill>
              </a:rPr>
              <a:t>Kiến trúc hệ thống DrowsiGuard</a:t>
            </a:r>
          </a:p>
        </p:txBody>
      </p:sp>
      <p:sp>
        <p:nvSpPr>
          <p:cNvPr id="11" name="Shape 11"/>
          <p:cNvSpPr/>
          <p:nvPr/>
        </p:nvSpPr>
        <p:spPr>
          <a:xfrm>
            <a:off x="777240" y="2916936"/>
            <a:ext cx="475488" cy="475488"/>
          </a:xfrm>
          <a:prstGeom prst="round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Shape 12"/>
          <p:cNvSpPr/>
          <p:nvPr/>
        </p:nvSpPr>
        <p:spPr>
          <a:xfrm>
            <a:off x="1444752" y="2999232"/>
            <a:ext cx="896112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mid"/>
          <a:lstStyle/>
          <a:p>
            <a:pPr algn="l"/>
            <a:r>
              <a:rPr lang="vi-VN" sz="1900">
                <a:solidFill>
                  <a:srgbClr val="123047"/>
                </a:solidFill>
              </a:rPr>
              <a:t>Luồng xử lý: RFID, Face ID, AI buồn ngủ</a:t>
            </a:r>
          </a:p>
        </p:txBody>
      </p:sp>
      <p:sp>
        <p:nvSpPr>
          <p:cNvPr id="13" name="Shape 13"/>
          <p:cNvSpPr/>
          <p:nvPr/>
        </p:nvSpPr>
        <p:spPr>
          <a:xfrm>
            <a:off x="777240" y="3666744"/>
            <a:ext cx="475488" cy="475488"/>
          </a:xfrm>
          <a:prstGeom prst="round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Shape 14"/>
          <p:cNvSpPr/>
          <p:nvPr/>
        </p:nvSpPr>
        <p:spPr>
          <a:xfrm>
            <a:off x="1444752" y="3749040"/>
            <a:ext cx="896112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mid"/>
          <a:lstStyle/>
          <a:p>
            <a:pPr algn="l"/>
            <a:r>
              <a:rPr lang="vi-VN" sz="1900">
                <a:solidFill>
                  <a:srgbClr val="123047"/>
                </a:solidFill>
              </a:rPr>
              <a:t>WebQuanLi / Monitoring Hub và dữ liệu realtime</a:t>
            </a:r>
          </a:p>
        </p:txBody>
      </p:sp>
      <p:sp>
        <p:nvSpPr>
          <p:cNvPr id="15" name="Shape 15"/>
          <p:cNvSpPr/>
          <p:nvPr/>
        </p:nvSpPr>
        <p:spPr>
          <a:xfrm>
            <a:off x="777240" y="4416552"/>
            <a:ext cx="475488" cy="475488"/>
          </a:xfrm>
          <a:prstGeom prst="round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Shape 16"/>
          <p:cNvSpPr/>
          <p:nvPr/>
        </p:nvSpPr>
        <p:spPr>
          <a:xfrm>
            <a:off x="1444752" y="4498848"/>
            <a:ext cx="896112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mid"/>
          <a:lstStyle/>
          <a:p>
            <a:pPr algn="l"/>
            <a:r>
              <a:rPr lang="vi-VN" sz="1900">
                <a:solidFill>
                  <a:srgbClr val="123047"/>
                </a:solidFill>
              </a:rPr>
              <a:t>Kiểm thử, hạn chế, hướng phát triển và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9525">
            <a:solidFill>
              <a:srgbClr val="F7FBFC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4" name="Shape 4"/>
          <p:cNvSpPr/>
          <p:nvPr/>
        </p:nvSpPr>
        <p:spPr>
          <a:xfrm>
            <a:off x="530352" y="347472"/>
            <a:ext cx="103327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800" b="1">
                <a:solidFill>
                  <a:srgbClr val="0F766E"/>
                </a:solidFill>
              </a:rPr>
              <a:t>WHY</a:t>
            </a:r>
          </a:p>
        </p:txBody>
      </p:sp>
      <p:sp>
        <p:nvSpPr>
          <p:cNvPr id="5" name="Shape 5"/>
          <p:cNvSpPr/>
          <p:nvPr/>
        </p:nvSpPr>
        <p:spPr>
          <a:xfrm>
            <a:off x="502920" y="566928"/>
            <a:ext cx="10698480" cy="56692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2500" b="1">
                <a:solidFill>
                  <a:srgbClr val="0B2E4A"/>
                </a:solidFill>
              </a:rPr>
              <a:t>Bài toán và mục tiêu</a:t>
            </a:r>
          </a:p>
        </p:txBody>
      </p:sp>
      <p:sp>
        <p:nvSpPr>
          <p:cNvPr id="6" name="Shape 6"/>
          <p:cNvSpPr/>
          <p:nvPr/>
        </p:nvSpPr>
        <p:spPr>
          <a:xfrm>
            <a:off x="10771632" y="6327648"/>
            <a:ext cx="841248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mid"/>
          <a:lstStyle/>
          <a:p>
            <a:pPr algn="r"/>
            <a:r>
              <a:rPr lang="vi-VN" sz="1000" b="1">
                <a:solidFill>
                  <a:srgbClr val="5C7486"/>
                </a:solidFill>
              </a:rPr>
              <a:t>03</a:t>
            </a:r>
          </a:p>
        </p:txBody>
      </p:sp>
      <p:sp>
        <p:nvSpPr>
          <p:cNvPr id="7" name="Shape 7"/>
          <p:cNvSpPr/>
          <p:nvPr/>
        </p:nvSpPr>
        <p:spPr>
          <a:xfrm>
            <a:off x="640080" y="1371600"/>
            <a:ext cx="3429000" cy="3429000"/>
          </a:xfrm>
          <a:prstGeom prst="roundRect">
            <a:avLst/>
          </a:prstGeom>
          <a:solidFill>
            <a:srgbClr val="EAF4FB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800" b="1">
                <a:solidFill>
                  <a:srgbClr val="123047"/>
                </a:solidFill>
              </a:rPr>
              <a:t>Vấn đề</a:t>
            </a:r>
            <a:br/>
            <a:r>
              <a:rPr lang="vi-VN" sz="1800" b="1">
                <a:solidFill>
                  <a:srgbClr val="123047"/>
                </a:solidFill>
              </a:rPr>
              <a:t/>
            </a:r>
            <a:br/>
            <a:r>
              <a:rPr lang="vi-VN" sz="1800" b="1">
                <a:solidFill>
                  <a:srgbClr val="123047"/>
                </a:solidFill>
              </a:rPr>
              <a:t>Tài xế có thể mệt mỏi, mất tập trung hoặc buồn ngủ trong quá trình vận hành xe.</a:t>
            </a:r>
          </a:p>
        </p:txBody>
      </p:sp>
      <p:sp>
        <p:nvSpPr>
          <p:cNvPr id="8" name="Shape 8"/>
          <p:cNvSpPr/>
          <p:nvPr/>
        </p:nvSpPr>
        <p:spPr>
          <a:xfrm>
            <a:off x="4389120" y="1371600"/>
            <a:ext cx="3429000" cy="3429000"/>
          </a:xfrm>
          <a:prstGeom prst="roundRect">
            <a:avLst/>
          </a:prstGeom>
          <a:solidFill>
            <a:srgbClr val="DDF7F0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800" b="1">
                <a:solidFill>
                  <a:srgbClr val="123047"/>
                </a:solidFill>
              </a:rPr>
              <a:t>Mục tiêu</a:t>
            </a:r>
            <a:br/>
            <a:r>
              <a:rPr lang="vi-VN" sz="1800" b="1">
                <a:solidFill>
                  <a:srgbClr val="123047"/>
                </a:solidFill>
              </a:rPr>
              <a:t/>
            </a:r>
            <a:br/>
            <a:r>
              <a:rPr lang="vi-VN" sz="1800" b="1">
                <a:solidFill>
                  <a:srgbClr val="123047"/>
                </a:solidFill>
              </a:rPr>
              <a:t>Phát hiện dấu hiệu buồn ngủ bằng camera và cảnh báo kịp thời tại thiết bị.</a:t>
            </a:r>
          </a:p>
        </p:txBody>
      </p:sp>
      <p:sp>
        <p:nvSpPr>
          <p:cNvPr id="9" name="Shape 9"/>
          <p:cNvSpPr/>
          <p:nvPr/>
        </p:nvSpPr>
        <p:spPr>
          <a:xfrm>
            <a:off x="8138160" y="1371600"/>
            <a:ext cx="3429000" cy="3429000"/>
          </a:xfrm>
          <a:prstGeom prst="roundRect">
            <a:avLst/>
          </a:prstGeom>
          <a:solidFill>
            <a:srgbClr val="FDF7E7"/>
          </a:solidFill>
          <a:ln w="9525">
            <a:solidFill>
              <a:srgbClr val="E5C669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800" b="1">
                <a:solidFill>
                  <a:srgbClr val="123047"/>
                </a:solidFill>
              </a:rPr>
              <a:t>Kết quả mong muốn</a:t>
            </a:r>
            <a:br/>
            <a:r>
              <a:rPr lang="vi-VN" sz="1800" b="1">
                <a:solidFill>
                  <a:srgbClr val="123047"/>
                </a:solidFill>
              </a:rPr>
              <a:t/>
            </a:r>
            <a:br/>
            <a:r>
              <a:rPr lang="vi-VN" sz="1800" b="1">
                <a:solidFill>
                  <a:srgbClr val="123047"/>
                </a:solidFill>
              </a:rPr>
              <a:t>Giám sát phiên lái, cảnh báo realtime và lưu vết dữ liệu cho quản lý.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9525">
            <a:solidFill>
              <a:srgbClr val="F7FBFC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4" name="Shape 4"/>
          <p:cNvSpPr/>
          <p:nvPr/>
        </p:nvSpPr>
        <p:spPr>
          <a:xfrm>
            <a:off x="530352" y="347472"/>
            <a:ext cx="103327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800" b="1">
                <a:solidFill>
                  <a:srgbClr val="0F766E"/>
                </a:solidFill>
              </a:rPr>
              <a:t>PROJECT NAMING</a:t>
            </a:r>
          </a:p>
        </p:txBody>
      </p:sp>
      <p:sp>
        <p:nvSpPr>
          <p:cNvPr id="5" name="Shape 5"/>
          <p:cNvSpPr/>
          <p:nvPr/>
        </p:nvSpPr>
        <p:spPr>
          <a:xfrm>
            <a:off x="502920" y="566928"/>
            <a:ext cx="10698480" cy="56692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2500" b="1">
                <a:solidFill>
                  <a:srgbClr val="0B2E4A"/>
                </a:solidFill>
              </a:rPr>
              <a:t>Tên gọi khi trình bày</a:t>
            </a:r>
          </a:p>
        </p:txBody>
      </p:sp>
      <p:sp>
        <p:nvSpPr>
          <p:cNvPr id="6" name="Shape 6"/>
          <p:cNvSpPr/>
          <p:nvPr/>
        </p:nvSpPr>
        <p:spPr>
          <a:xfrm>
            <a:off x="10771632" y="6327648"/>
            <a:ext cx="841248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mid"/>
          <a:lstStyle/>
          <a:p>
            <a:pPr algn="r"/>
            <a:r>
              <a:rPr lang="vi-VN" sz="1000" b="1">
                <a:solidFill>
                  <a:srgbClr val="5C7486"/>
                </a:solidFill>
              </a:rPr>
              <a:t>04</a:t>
            </a:r>
          </a:p>
        </p:txBody>
      </p:sp>
      <p:sp>
        <p:nvSpPr>
          <p:cNvPr id="7" name="Shape 7"/>
          <p:cNvSpPr/>
          <p:nvPr/>
        </p:nvSpPr>
        <p:spPr>
          <a:xfrm>
            <a:off x="777240" y="1389888"/>
            <a:ext cx="4892040" cy="914400"/>
          </a:xfrm>
          <a:prstGeom prst="roundRect">
            <a:avLst/>
          </a:prstGeom>
          <a:solidFill>
            <a:srgbClr val="DDF7F0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800" b="1">
                <a:solidFill>
                  <a:srgbClr val="0B2E4A"/>
                </a:solidFill>
              </a:rPr>
              <a:t>Version3</a:t>
            </a:r>
            <a:br/>
            <a:r>
              <a:rPr lang="vi-VN" sz="1800" b="1">
                <a:solidFill>
                  <a:srgbClr val="0B2E4A"/>
                </a:solidFill>
              </a:rPr>
              <a:t>→ DrowsiGuard Edge Runtime</a:t>
            </a:r>
          </a:p>
        </p:txBody>
      </p:sp>
      <p:sp>
        <p:nvSpPr>
          <p:cNvPr id="8" name="Shape 8"/>
          <p:cNvSpPr/>
          <p:nvPr/>
        </p:nvSpPr>
        <p:spPr>
          <a:xfrm>
            <a:off x="6446520" y="1389888"/>
            <a:ext cx="4892040" cy="914400"/>
          </a:xfrm>
          <a:prstGeom prst="roundRect">
            <a:avLst/>
          </a:prstGeom>
          <a:solidFill>
            <a:srgbClr val="EAF4FB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800" b="1">
                <a:solidFill>
                  <a:srgbClr val="0B2E4A"/>
                </a:solidFill>
              </a:rPr>
              <a:t>WebQuanLi</a:t>
            </a:r>
            <a:br/>
            <a:r>
              <a:rPr lang="vi-VN" sz="1800" b="1">
                <a:solidFill>
                  <a:srgbClr val="0B2E4A"/>
                </a:solidFill>
              </a:rPr>
              <a:t>→ DrowsiGuard Monitoring Hub</a:t>
            </a:r>
          </a:p>
        </p:txBody>
      </p:sp>
      <p:sp>
        <p:nvSpPr>
          <p:cNvPr id="9" name="Shape 9"/>
          <p:cNvSpPr/>
          <p:nvPr/>
        </p:nvSpPr>
        <p:spPr>
          <a:xfrm>
            <a:off x="914400" y="2743200"/>
            <a:ext cx="502920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600">
                <a:solidFill>
                  <a:srgbClr val="123047"/>
                </a:solidFill>
              </a:rPr>
              <a:t>• Version3 là phần mềm chạy trên Jetson Nano trong xe.</a:t>
            </a:r>
          </a:p>
        </p:txBody>
      </p:sp>
      <p:sp>
        <p:nvSpPr>
          <p:cNvPr id="10" name="Shape 10"/>
          <p:cNvSpPr/>
          <p:nvPr/>
        </p:nvSpPr>
        <p:spPr>
          <a:xfrm>
            <a:off x="914400" y="3072384"/>
            <a:ext cx="502920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600">
                <a:solidFill>
                  <a:srgbClr val="123047"/>
                </a:solidFill>
              </a:rPr>
              <a:t>• WebQuanLi là trung tâm giám sát, API, WebSocket và dashboard.</a:t>
            </a:r>
          </a:p>
        </p:txBody>
      </p:sp>
      <p:sp>
        <p:nvSpPr>
          <p:cNvPr id="11" name="Shape 11"/>
          <p:cNvSpPr/>
          <p:nvPr/>
        </p:nvSpPr>
        <p:spPr>
          <a:xfrm>
            <a:off x="914400" y="3401568"/>
            <a:ext cx="502920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600">
                <a:solidFill>
                  <a:srgbClr val="123047"/>
                </a:solidFill>
              </a:rPr>
              <a:t>• Khi bảo vệ, nên dùng tên chức năng thay vì tên folder.</a:t>
            </a:r>
          </a:p>
        </p:txBody>
      </p:sp>
      <p:sp>
        <p:nvSpPr>
          <p:cNvPr id="12" name="Shape 12"/>
          <p:cNvSpPr/>
          <p:nvPr/>
        </p:nvSpPr>
        <p:spPr>
          <a:xfrm>
            <a:off x="6400800" y="2788920"/>
            <a:ext cx="448056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500">
                <a:solidFill>
                  <a:srgbClr val="123047"/>
                </a:solidFill>
              </a:rPr>
              <a:t>Phiên bản tiếng Việt</a:t>
            </a:r>
            <a:br/>
            <a:r>
              <a:rPr lang="vi-VN" sz="1500">
                <a:solidFill>
                  <a:srgbClr val="123047"/>
                </a:solidFill>
              </a:rPr>
              <a:t/>
            </a:r>
            <a:br/>
            <a:r>
              <a:rPr lang="vi-VN" sz="1500">
                <a:solidFill>
                  <a:srgbClr val="123047"/>
                </a:solidFill>
              </a:rPr>
              <a:t>Phần mềm thiết bị trên xe</a:t>
            </a:r>
            <a:br/>
            <a:r>
              <a:rPr lang="vi-VN" sz="1500">
                <a:solidFill>
                  <a:srgbClr val="123047"/>
                </a:solidFill>
              </a:rPr>
              <a:t>Trung tâm giám sát DrowsiGuard</a:t>
            </a:r>
          </a:p>
        </p:txBody>
      </p:sp>
      <p:sp>
        <p:nvSpPr>
          <p:cNvPr id="13" name="Shape 13"/>
          <p:cNvSpPr/>
          <p:nvPr/>
        </p:nvSpPr>
        <p:spPr>
          <a:xfrm>
            <a:off x="6400800" y="4343400"/>
            <a:ext cx="448056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500">
                <a:solidFill>
                  <a:srgbClr val="123047"/>
                </a:solidFill>
              </a:rPr>
              <a:t>Phiên bản tiếng Anh</a:t>
            </a:r>
            <a:br/>
            <a:r>
              <a:rPr lang="vi-VN" sz="1500">
                <a:solidFill>
                  <a:srgbClr val="123047"/>
                </a:solidFill>
              </a:rPr>
              <a:t/>
            </a:r>
            <a:br/>
            <a:r>
              <a:rPr lang="vi-VN" sz="1500">
                <a:solidFill>
                  <a:srgbClr val="123047"/>
                </a:solidFill>
              </a:rPr>
              <a:t>Edge Runtime</a:t>
            </a:r>
            <a:br/>
            <a:r>
              <a:rPr lang="vi-VN" sz="1500">
                <a:solidFill>
                  <a:srgbClr val="123047"/>
                </a:solidFill>
              </a:rPr>
              <a:t>Monitoring 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9525">
            <a:solidFill>
              <a:srgbClr val="F7FBFC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4" name="Shape 4"/>
          <p:cNvSpPr/>
          <p:nvPr/>
        </p:nvSpPr>
        <p:spPr>
          <a:xfrm>
            <a:off x="530352" y="347472"/>
            <a:ext cx="103327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800" b="1">
                <a:solidFill>
                  <a:srgbClr val="0F766E"/>
                </a:solidFill>
              </a:rPr>
              <a:t>SYSTEM OVERVIEW</a:t>
            </a:r>
          </a:p>
        </p:txBody>
      </p:sp>
      <p:sp>
        <p:nvSpPr>
          <p:cNvPr id="5" name="Shape 5"/>
          <p:cNvSpPr/>
          <p:nvPr/>
        </p:nvSpPr>
        <p:spPr>
          <a:xfrm>
            <a:off x="502920" y="566928"/>
            <a:ext cx="10698480" cy="56692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2500" b="1">
                <a:solidFill>
                  <a:srgbClr val="0B2E4A"/>
                </a:solidFill>
              </a:rPr>
              <a:t>Kiến trúc tổng thể</a:t>
            </a:r>
          </a:p>
        </p:txBody>
      </p:sp>
      <p:sp>
        <p:nvSpPr>
          <p:cNvPr id="6" name="Shape 6"/>
          <p:cNvSpPr/>
          <p:nvPr/>
        </p:nvSpPr>
        <p:spPr>
          <a:xfrm>
            <a:off x="10771632" y="6327648"/>
            <a:ext cx="841248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mid"/>
          <a:lstStyle/>
          <a:p>
            <a:pPr algn="r"/>
            <a:r>
              <a:rPr lang="vi-VN" sz="1000" b="1">
                <a:solidFill>
                  <a:srgbClr val="5C7486"/>
                </a:solidFill>
              </a:rPr>
              <a:t>05</a:t>
            </a:r>
          </a:p>
        </p:txBody>
      </p:sp>
      <p:sp>
        <p:nvSpPr>
          <p:cNvPr id="7" name="Shape 7"/>
          <p:cNvSpPr/>
          <p:nvPr/>
        </p:nvSpPr>
        <p:spPr>
          <a:xfrm>
            <a:off x="685800" y="1508760"/>
            <a:ext cx="201168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500" b="1">
                <a:solidFill>
                  <a:srgbClr val="123047"/>
                </a:solidFill>
              </a:rPr>
              <a:t>Camera</a:t>
            </a:r>
            <a:br/>
            <a:r>
              <a:rPr lang="vi-VN" sz="1500" b="1">
                <a:solidFill>
                  <a:srgbClr val="123047"/>
                </a:solidFill>
              </a:rPr>
              <a:t>RFID</a:t>
            </a:r>
            <a:br/>
            <a:r>
              <a:rPr lang="vi-VN" sz="1500" b="1">
                <a:solidFill>
                  <a:srgbClr val="123047"/>
                </a:solidFill>
              </a:rPr>
              <a:t>GPS / Loa</a:t>
            </a:r>
          </a:p>
        </p:txBody>
      </p:sp>
      <p:sp>
        <p:nvSpPr>
          <p:cNvPr id="8" name="Shape 8"/>
          <p:cNvSpPr/>
          <p:nvPr/>
        </p:nvSpPr>
        <p:spPr>
          <a:xfrm>
            <a:off x="3154680" y="1353312"/>
            <a:ext cx="2331720" cy="1005840"/>
          </a:xfrm>
          <a:prstGeom prst="roundRect">
            <a:avLst/>
          </a:prstGeom>
          <a:solidFill>
            <a:srgbClr val="DDF7F0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600" b="1">
                <a:solidFill>
                  <a:srgbClr val="0B2E4A"/>
                </a:solidFill>
              </a:rPr>
              <a:t>Jetson Nano</a:t>
            </a:r>
            <a:br/>
            <a:r>
              <a:rPr lang="vi-VN" sz="1600" b="1">
                <a:solidFill>
                  <a:srgbClr val="0B2E4A"/>
                </a:solidFill>
              </a:rPr>
              <a:t>DrowsiGuard Edge Runtime</a:t>
            </a:r>
          </a:p>
        </p:txBody>
      </p:sp>
      <p:sp>
        <p:nvSpPr>
          <p:cNvPr id="9" name="Shape 9"/>
          <p:cNvSpPr/>
          <p:nvPr/>
        </p:nvSpPr>
        <p:spPr>
          <a:xfrm>
            <a:off x="6080760" y="1508760"/>
            <a:ext cx="1508760" cy="685800"/>
          </a:xfrm>
          <a:prstGeom prst="roundRect">
            <a:avLst/>
          </a:prstGeom>
          <a:solidFill>
            <a:srgbClr val="FDF7E7"/>
          </a:solidFill>
          <a:ln w="9525">
            <a:solidFill>
              <a:srgbClr val="E5C669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500" b="1">
                <a:solidFill>
                  <a:srgbClr val="123047"/>
                </a:solidFill>
              </a:rPr>
              <a:t>Tailscale</a:t>
            </a:r>
            <a:br/>
            <a:r>
              <a:rPr lang="vi-VN" sz="1500" b="1">
                <a:solidFill>
                  <a:srgbClr val="123047"/>
                </a:solidFill>
              </a:rPr>
              <a:t>LAN/Wi-Fi</a:t>
            </a:r>
          </a:p>
        </p:txBody>
      </p:sp>
      <p:sp>
        <p:nvSpPr>
          <p:cNvPr id="10" name="Shape 10"/>
          <p:cNvSpPr/>
          <p:nvPr/>
        </p:nvSpPr>
        <p:spPr>
          <a:xfrm>
            <a:off x="8183880" y="1353312"/>
            <a:ext cx="2560320" cy="1005840"/>
          </a:xfrm>
          <a:prstGeom prst="roundRect">
            <a:avLst/>
          </a:prstGeom>
          <a:solidFill>
            <a:srgbClr val="EAF4FB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600" b="1">
                <a:solidFill>
                  <a:srgbClr val="0B2E4A"/>
                </a:solidFill>
              </a:rPr>
              <a:t>DrowsiGuard</a:t>
            </a:r>
            <a:br/>
            <a:r>
              <a:rPr lang="vi-VN" sz="1600" b="1">
                <a:solidFill>
                  <a:srgbClr val="0B2E4A"/>
                </a:solidFill>
              </a:rPr>
              <a:t>Monitoring Hub</a:t>
            </a:r>
          </a:p>
        </p:txBody>
      </p:sp>
      <p:cxnSp>
        <p:nvCxnSpPr>
          <p:cNvPr id="11" name="Connector 11"/>
          <p:cNvCxnSpPr/>
          <p:nvPr/>
        </p:nvCxnSpPr>
        <p:spPr>
          <a:xfrm>
            <a:off x="2724912" y="1856232"/>
            <a:ext cx="384048" cy="0"/>
          </a:xfrm>
          <a:prstGeom prst="line">
            <a:avLst/>
          </a:prstGeom>
          <a:ln w="21590">
            <a:solidFill>
              <a:srgbClr val="0F766E"/>
            </a:solidFill>
            <a:headEnd type="triangle"/>
          </a:ln>
        </p:spPr>
      </p:cxnSp>
      <p:cxnSp>
        <p:nvCxnSpPr>
          <p:cNvPr id="12" name="Connector 12"/>
          <p:cNvCxnSpPr/>
          <p:nvPr/>
        </p:nvCxnSpPr>
        <p:spPr>
          <a:xfrm>
            <a:off x="5532120" y="1856232"/>
            <a:ext cx="502920" cy="0"/>
          </a:xfrm>
          <a:prstGeom prst="line">
            <a:avLst/>
          </a:prstGeom>
          <a:ln w="21590">
            <a:solidFill>
              <a:srgbClr val="0F766E"/>
            </a:solidFill>
            <a:headEnd type="triangle"/>
          </a:ln>
        </p:spPr>
      </p:cxnSp>
      <p:cxnSp>
        <p:nvCxnSpPr>
          <p:cNvPr id="13" name="Connector 13"/>
          <p:cNvCxnSpPr/>
          <p:nvPr/>
        </p:nvCxnSpPr>
        <p:spPr>
          <a:xfrm>
            <a:off x="7626096" y="1856232"/>
            <a:ext cx="502920" cy="0"/>
          </a:xfrm>
          <a:prstGeom prst="line">
            <a:avLst/>
          </a:prstGeom>
          <a:ln w="21590">
            <a:solidFill>
              <a:srgbClr val="0F766E"/>
            </a:solidFill>
            <a:headEnd type="triangle"/>
          </a:ln>
        </p:spPr>
      </p:cxnSp>
      <p:sp>
        <p:nvSpPr>
          <p:cNvPr id="14" name="Shape 14"/>
          <p:cNvSpPr/>
          <p:nvPr/>
        </p:nvSpPr>
        <p:spPr>
          <a:xfrm>
            <a:off x="960120" y="3246120"/>
            <a:ext cx="196596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400">
                <a:solidFill>
                  <a:srgbClr val="123047"/>
                </a:solidFill>
              </a:rPr>
              <a:t>Xác thực</a:t>
            </a:r>
            <a:br/>
            <a:r>
              <a:rPr lang="vi-VN" sz="1400">
                <a:solidFill>
                  <a:srgbClr val="123047"/>
                </a:solidFill>
              </a:rPr>
              <a:t>RFID + Face ID</a:t>
            </a:r>
          </a:p>
        </p:txBody>
      </p:sp>
      <p:sp>
        <p:nvSpPr>
          <p:cNvPr id="15" name="Shape 15"/>
          <p:cNvSpPr/>
          <p:nvPr/>
        </p:nvSpPr>
        <p:spPr>
          <a:xfrm>
            <a:off x="3520440" y="3246120"/>
            <a:ext cx="196596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400">
                <a:solidFill>
                  <a:srgbClr val="123047"/>
                </a:solidFill>
              </a:rPr>
              <a:t>AI buồn ngủ</a:t>
            </a:r>
            <a:br/>
            <a:r>
              <a:rPr lang="vi-VN" sz="1400">
                <a:solidFill>
                  <a:srgbClr val="123047"/>
                </a:solidFill>
              </a:rPr>
              <a:t>EAR / PERCLOS</a:t>
            </a:r>
          </a:p>
        </p:txBody>
      </p:sp>
      <p:sp>
        <p:nvSpPr>
          <p:cNvPr id="16" name="Shape 16"/>
          <p:cNvSpPr/>
          <p:nvPr/>
        </p:nvSpPr>
        <p:spPr>
          <a:xfrm>
            <a:off x="6080760" y="3246120"/>
            <a:ext cx="196596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400">
                <a:solidFill>
                  <a:srgbClr val="123047"/>
                </a:solidFill>
              </a:rPr>
              <a:t>EventBus</a:t>
            </a:r>
            <a:br/>
            <a:r>
              <a:rPr lang="vi-VN" sz="1400">
                <a:solidFill>
                  <a:srgbClr val="123047"/>
                </a:solidFill>
              </a:rPr>
              <a:t>WebSocket</a:t>
            </a:r>
          </a:p>
        </p:txBody>
      </p:sp>
      <p:sp>
        <p:nvSpPr>
          <p:cNvPr id="17" name="Shape 17"/>
          <p:cNvSpPr/>
          <p:nvPr/>
        </p:nvSpPr>
        <p:spPr>
          <a:xfrm>
            <a:off x="8641080" y="3246120"/>
            <a:ext cx="196596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400">
                <a:solidFill>
                  <a:srgbClr val="123047"/>
                </a:solidFill>
              </a:rPr>
              <a:t>Dashboard</a:t>
            </a:r>
            <a:br/>
            <a:r>
              <a:rPr lang="vi-VN" sz="1400">
                <a:solidFill>
                  <a:srgbClr val="123047"/>
                </a:solidFill>
              </a:rPr>
              <a:t>SSE / SQLite</a:t>
            </a:r>
          </a:p>
        </p:txBody>
      </p:sp>
      <p:cxnSp>
        <p:nvCxnSpPr>
          <p:cNvPr id="18" name="Connector 18"/>
          <p:cNvCxnSpPr/>
          <p:nvPr/>
        </p:nvCxnSpPr>
        <p:spPr>
          <a:xfrm>
            <a:off x="2971800" y="3621024"/>
            <a:ext cx="493776" cy="0"/>
          </a:xfrm>
          <a:prstGeom prst="line">
            <a:avLst/>
          </a:prstGeom>
          <a:ln w="21590">
            <a:solidFill>
              <a:srgbClr val="A9CCD4"/>
            </a:solidFill>
            <a:headEnd type="triangle"/>
          </a:ln>
        </p:spPr>
      </p:cxnSp>
      <p:cxnSp>
        <p:nvCxnSpPr>
          <p:cNvPr id="19" name="Connector 19"/>
          <p:cNvCxnSpPr/>
          <p:nvPr/>
        </p:nvCxnSpPr>
        <p:spPr>
          <a:xfrm>
            <a:off x="5532120" y="3621024"/>
            <a:ext cx="493776" cy="0"/>
          </a:xfrm>
          <a:prstGeom prst="line">
            <a:avLst/>
          </a:prstGeom>
          <a:ln w="21590">
            <a:solidFill>
              <a:srgbClr val="A9CCD4"/>
            </a:solidFill>
            <a:headEnd type="triangle"/>
          </a:ln>
        </p:spPr>
      </p:cxnSp>
      <p:cxnSp>
        <p:nvCxnSpPr>
          <p:cNvPr id="20" name="Connector 20"/>
          <p:cNvCxnSpPr/>
          <p:nvPr/>
        </p:nvCxnSpPr>
        <p:spPr>
          <a:xfrm>
            <a:off x="8092440" y="3621024"/>
            <a:ext cx="493776" cy="0"/>
          </a:xfrm>
          <a:prstGeom prst="line">
            <a:avLst/>
          </a:prstGeom>
          <a:ln w="21590">
            <a:solidFill>
              <a:srgbClr val="A9CCD4"/>
            </a:solidFill>
            <a:headEnd type="triangle"/>
          </a:ln>
        </p:spPr>
      </p:cxnSp>
      <p:sp>
        <p:nvSpPr>
          <p:cNvPr id="21" name="Shape 21"/>
          <p:cNvSpPr/>
          <p:nvPr/>
        </p:nvSpPr>
        <p:spPr>
          <a:xfrm>
            <a:off x="822960" y="4892040"/>
            <a:ext cx="9875520" cy="411480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mid"/>
          <a:lstStyle/>
          <a:p>
            <a:pPr algn="l"/>
            <a:r>
              <a:rPr lang="vi-VN" sz="1600">
                <a:solidFill>
                  <a:srgbClr val="5C7486"/>
                </a:solidFill>
              </a:rPr>
              <a:t>Ý chính khi nói: hệ thống tách thành thiết bị xử lý tại xe và trung tâm giám sát realtime, kết nối bằng WebSocket.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9525">
            <a:solidFill>
              <a:srgbClr val="F7FBFC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4" name="Shape 4"/>
          <p:cNvSpPr/>
          <p:nvPr/>
        </p:nvSpPr>
        <p:spPr>
          <a:xfrm>
            <a:off x="530352" y="347472"/>
            <a:ext cx="103327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800" b="1">
                <a:solidFill>
                  <a:srgbClr val="0F766E"/>
                </a:solidFill>
              </a:rPr>
              <a:t>JETSON-SIDE</a:t>
            </a:r>
          </a:p>
        </p:txBody>
      </p:sp>
      <p:sp>
        <p:nvSpPr>
          <p:cNvPr id="5" name="Shape 5"/>
          <p:cNvSpPr/>
          <p:nvPr/>
        </p:nvSpPr>
        <p:spPr>
          <a:xfrm>
            <a:off x="502920" y="566928"/>
            <a:ext cx="10698480" cy="56692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2500" b="1">
                <a:solidFill>
                  <a:srgbClr val="0B2E4A"/>
                </a:solidFill>
              </a:rPr>
              <a:t>DrowsiGuard Edge Runtime</a:t>
            </a:r>
          </a:p>
        </p:txBody>
      </p:sp>
      <p:sp>
        <p:nvSpPr>
          <p:cNvPr id="6" name="Shape 6"/>
          <p:cNvSpPr/>
          <p:nvPr/>
        </p:nvSpPr>
        <p:spPr>
          <a:xfrm>
            <a:off x="10771632" y="6327648"/>
            <a:ext cx="841248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mid"/>
          <a:lstStyle/>
          <a:p>
            <a:pPr algn="r"/>
            <a:r>
              <a:rPr lang="vi-VN" sz="1000" b="1">
                <a:solidFill>
                  <a:srgbClr val="5C7486"/>
                </a:solidFill>
              </a:rPr>
              <a:t>06</a:t>
            </a:r>
          </a:p>
        </p:txBody>
      </p:sp>
      <p:sp>
        <p:nvSpPr>
          <p:cNvPr id="7" name="Shape 7"/>
          <p:cNvSpPr/>
          <p:nvPr/>
        </p:nvSpPr>
        <p:spPr>
          <a:xfrm>
            <a:off x="822960" y="1417320"/>
            <a:ext cx="502920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Chạy trên Jetson Nano, nhận dữ liệu từ camera, RFID, GPS.</a:t>
            </a:r>
          </a:p>
        </p:txBody>
      </p:sp>
      <p:sp>
        <p:nvSpPr>
          <p:cNvPr id="8" name="Shape 8"/>
          <p:cNvSpPr/>
          <p:nvPr/>
        </p:nvSpPr>
        <p:spPr>
          <a:xfrm>
            <a:off x="822960" y="1746504"/>
            <a:ext cx="502920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Điều phối phiên lái: chờ RFID, xác minh khuôn mặt, bắt đầu giám sát.</a:t>
            </a:r>
          </a:p>
        </p:txBody>
      </p:sp>
      <p:sp>
        <p:nvSpPr>
          <p:cNvPr id="9" name="Shape 9"/>
          <p:cNvSpPr/>
          <p:nvPr/>
        </p:nvSpPr>
        <p:spPr>
          <a:xfrm>
            <a:off x="822960" y="2075688"/>
            <a:ext cx="502920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Xử lý AI cục bộ để giảm phụ thuộc mạng.</a:t>
            </a:r>
          </a:p>
        </p:txBody>
      </p:sp>
      <p:sp>
        <p:nvSpPr>
          <p:cNvPr id="10" name="Shape 10"/>
          <p:cNvSpPr/>
          <p:nvPr/>
        </p:nvSpPr>
        <p:spPr>
          <a:xfrm>
            <a:off x="822960" y="2404872"/>
            <a:ext cx="502920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Phát cảnh báo tại xe bằng âm thanh / loa.</a:t>
            </a:r>
          </a:p>
        </p:txBody>
      </p:sp>
      <p:sp>
        <p:nvSpPr>
          <p:cNvPr id="11" name="Shape 11"/>
          <p:cNvSpPr/>
          <p:nvPr/>
        </p:nvSpPr>
        <p:spPr>
          <a:xfrm>
            <a:off x="6400800" y="1325880"/>
            <a:ext cx="4389120" cy="640080"/>
          </a:xfrm>
          <a:prstGeom prst="roundRect">
            <a:avLst/>
          </a:prstGeom>
          <a:solidFill>
            <a:srgbClr val="0B2E4A"/>
          </a:solidFill>
          <a:ln w="9525">
            <a:solidFill>
              <a:srgbClr val="0B2E4A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800" b="1">
                <a:solidFill>
                  <a:srgbClr val="FFFFFF"/>
                </a:solidFill>
              </a:rPr>
              <a:t>Các vai trò chính</a:t>
            </a:r>
          </a:p>
        </p:txBody>
      </p:sp>
      <p:sp>
        <p:nvSpPr>
          <p:cNvPr id="12" name="Shape 12"/>
          <p:cNvSpPr/>
          <p:nvPr/>
        </p:nvSpPr>
        <p:spPr>
          <a:xfrm>
            <a:off x="6400800" y="2148840"/>
            <a:ext cx="438912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500">
                <a:solidFill>
                  <a:srgbClr val="123047"/>
                </a:solidFill>
              </a:rPr>
              <a:t>Thu thập dữ liệu cảm biến</a:t>
            </a:r>
          </a:p>
        </p:txBody>
      </p:sp>
      <p:sp>
        <p:nvSpPr>
          <p:cNvPr id="13" name="Shape 13"/>
          <p:cNvSpPr/>
          <p:nvPr/>
        </p:nvSpPr>
        <p:spPr>
          <a:xfrm>
            <a:off x="6400800" y="2816352"/>
            <a:ext cx="438912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500">
                <a:solidFill>
                  <a:srgbClr val="123047"/>
                </a:solidFill>
              </a:rPr>
              <a:t>Phân tích khuôn mặt và trạng thái mắt</a:t>
            </a:r>
          </a:p>
        </p:txBody>
      </p:sp>
      <p:sp>
        <p:nvSpPr>
          <p:cNvPr id="14" name="Shape 14"/>
          <p:cNvSpPr/>
          <p:nvPr/>
        </p:nvSpPr>
        <p:spPr>
          <a:xfrm>
            <a:off x="6400800" y="3483864"/>
            <a:ext cx="438912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500">
                <a:solidFill>
                  <a:srgbClr val="123047"/>
                </a:solidFill>
              </a:rPr>
              <a:t>Ra quyết định cảnh báo theo thời gian</a:t>
            </a:r>
          </a:p>
        </p:txBody>
      </p:sp>
      <p:sp>
        <p:nvSpPr>
          <p:cNvPr id="15" name="Shape 15"/>
          <p:cNvSpPr/>
          <p:nvPr/>
        </p:nvSpPr>
        <p:spPr>
          <a:xfrm>
            <a:off x="6400800" y="4151376"/>
            <a:ext cx="438912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500">
                <a:solidFill>
                  <a:srgbClr val="123047"/>
                </a:solidFill>
              </a:rPr>
              <a:t>Đẩy sự kiện về Monitoring Hub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9525">
            <a:solidFill>
              <a:srgbClr val="F7FBFC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4" name="Shape 4"/>
          <p:cNvSpPr/>
          <p:nvPr/>
        </p:nvSpPr>
        <p:spPr>
          <a:xfrm>
            <a:off x="530352" y="347472"/>
            <a:ext cx="103327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800" b="1">
                <a:solidFill>
                  <a:srgbClr val="0F766E"/>
                </a:solidFill>
              </a:rPr>
              <a:t>WEBQUANLI</a:t>
            </a:r>
          </a:p>
        </p:txBody>
      </p:sp>
      <p:sp>
        <p:nvSpPr>
          <p:cNvPr id="5" name="Shape 5"/>
          <p:cNvSpPr/>
          <p:nvPr/>
        </p:nvSpPr>
        <p:spPr>
          <a:xfrm>
            <a:off x="502920" y="566928"/>
            <a:ext cx="10698480" cy="56692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2500" b="1">
                <a:solidFill>
                  <a:srgbClr val="0B2E4A"/>
                </a:solidFill>
              </a:rPr>
              <a:t>DrowsiGuard Monitoring Hub</a:t>
            </a:r>
          </a:p>
        </p:txBody>
      </p:sp>
      <p:sp>
        <p:nvSpPr>
          <p:cNvPr id="6" name="Shape 6"/>
          <p:cNvSpPr/>
          <p:nvPr/>
        </p:nvSpPr>
        <p:spPr>
          <a:xfrm>
            <a:off x="10771632" y="6327648"/>
            <a:ext cx="841248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mid"/>
          <a:lstStyle/>
          <a:p>
            <a:pPr algn="r"/>
            <a:r>
              <a:rPr lang="vi-VN" sz="1000" b="1">
                <a:solidFill>
                  <a:srgbClr val="5C7486"/>
                </a:solidFill>
              </a:rPr>
              <a:t>07</a:t>
            </a:r>
          </a:p>
        </p:txBody>
      </p:sp>
      <p:sp>
        <p:nvSpPr>
          <p:cNvPr id="7" name="Shape 7"/>
          <p:cNvSpPr/>
          <p:nvPr/>
        </p:nvSpPr>
        <p:spPr>
          <a:xfrm>
            <a:off x="822960" y="1417320"/>
            <a:ext cx="525780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Cung cấp backend API, dashboard và lưu trữ dữ liệu.</a:t>
            </a:r>
          </a:p>
        </p:txBody>
      </p:sp>
      <p:sp>
        <p:nvSpPr>
          <p:cNvPr id="8" name="Shape 8"/>
          <p:cNvSpPr/>
          <p:nvPr/>
        </p:nvSpPr>
        <p:spPr>
          <a:xfrm>
            <a:off x="822960" y="1746504"/>
            <a:ext cx="525780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Nhận trạng thái thiết bị qua WebSocket.</a:t>
            </a:r>
          </a:p>
        </p:txBody>
      </p:sp>
      <p:sp>
        <p:nvSpPr>
          <p:cNvPr id="9" name="Shape 9"/>
          <p:cNvSpPr/>
          <p:nvPr/>
        </p:nvSpPr>
        <p:spPr>
          <a:xfrm>
            <a:off x="822960" y="2075688"/>
            <a:ext cx="525780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Đẩy cập nhật realtime ra trình duyệt bằng SSE.</a:t>
            </a:r>
          </a:p>
        </p:txBody>
      </p:sp>
      <p:sp>
        <p:nvSpPr>
          <p:cNvPr id="10" name="Shape 10"/>
          <p:cNvSpPr/>
          <p:nvPr/>
        </p:nvSpPr>
        <p:spPr>
          <a:xfrm>
            <a:off x="822960" y="2404872"/>
            <a:ext cx="525780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Quản lý tài xế, lịch sử phiên lái, cảnh báo và thống kê.</a:t>
            </a:r>
          </a:p>
        </p:txBody>
      </p:sp>
      <p:sp>
        <p:nvSpPr>
          <p:cNvPr id="11" name="Shape 11"/>
          <p:cNvSpPr/>
          <p:nvPr/>
        </p:nvSpPr>
        <p:spPr>
          <a:xfrm>
            <a:off x="6492240" y="1371600"/>
            <a:ext cx="4343400" cy="713232"/>
          </a:xfrm>
          <a:prstGeom prst="roundRect">
            <a:avLst/>
          </a:prstGeom>
          <a:solidFill>
            <a:srgbClr val="DDF7F0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800" b="1">
                <a:solidFill>
                  <a:srgbClr val="0B2E4A"/>
                </a:solidFill>
              </a:rPr>
              <a:t>Dashboard</a:t>
            </a:r>
          </a:p>
        </p:txBody>
      </p:sp>
      <p:sp>
        <p:nvSpPr>
          <p:cNvPr id="12" name="Shape 12"/>
          <p:cNvSpPr/>
          <p:nvPr/>
        </p:nvSpPr>
        <p:spPr>
          <a:xfrm>
            <a:off x="6492240" y="2331720"/>
            <a:ext cx="192024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600" b="1">
                <a:solidFill>
                  <a:srgbClr val="123047"/>
                </a:solidFill>
              </a:rPr>
              <a:t>API</a:t>
            </a:r>
          </a:p>
        </p:txBody>
      </p:sp>
      <p:sp>
        <p:nvSpPr>
          <p:cNvPr id="13" name="Shape 13"/>
          <p:cNvSpPr/>
          <p:nvPr/>
        </p:nvSpPr>
        <p:spPr>
          <a:xfrm>
            <a:off x="8915400" y="2331720"/>
            <a:ext cx="192024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600" b="1">
                <a:solidFill>
                  <a:srgbClr val="123047"/>
                </a:solidFill>
              </a:rPr>
              <a:t>SQLite</a:t>
            </a:r>
          </a:p>
        </p:txBody>
      </p:sp>
      <p:sp>
        <p:nvSpPr>
          <p:cNvPr id="14" name="Shape 14"/>
          <p:cNvSpPr/>
          <p:nvPr/>
        </p:nvSpPr>
        <p:spPr>
          <a:xfrm>
            <a:off x="6492240" y="3337560"/>
            <a:ext cx="192024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600" b="1">
                <a:solidFill>
                  <a:srgbClr val="123047"/>
                </a:solidFill>
              </a:rPr>
              <a:t>WebSocket</a:t>
            </a:r>
          </a:p>
        </p:txBody>
      </p:sp>
      <p:sp>
        <p:nvSpPr>
          <p:cNvPr id="15" name="Shape 15"/>
          <p:cNvSpPr/>
          <p:nvPr/>
        </p:nvSpPr>
        <p:spPr>
          <a:xfrm>
            <a:off x="8915400" y="3337560"/>
            <a:ext cx="192024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600" b="1">
                <a:solidFill>
                  <a:srgbClr val="123047"/>
                </a:solidFill>
              </a:rPr>
              <a:t>SSE</a:t>
            </a:r>
          </a:p>
        </p:txBody>
      </p:sp>
      <p:sp>
        <p:nvSpPr>
          <p:cNvPr id="16" name="Shape 16"/>
          <p:cNvSpPr/>
          <p:nvPr/>
        </p:nvSpPr>
        <p:spPr>
          <a:xfrm>
            <a:off x="6583680" y="4663440"/>
            <a:ext cx="402336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mid"/>
          <a:lstStyle/>
          <a:p>
            <a:pPr algn="l"/>
            <a:r>
              <a:rPr lang="vi-VN" sz="1400">
                <a:solidFill>
                  <a:srgbClr val="5C7486"/>
                </a:solidFill>
              </a:rPr>
              <a:t>Trong giao diện demo: tiêu đề hiển thị là Monitoring Hub, menu là Trung tâm giám sát.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9525">
            <a:solidFill>
              <a:srgbClr val="F7FBFC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4" name="Shape 4"/>
          <p:cNvSpPr/>
          <p:nvPr/>
        </p:nvSpPr>
        <p:spPr>
          <a:xfrm>
            <a:off x="530352" y="347472"/>
            <a:ext cx="103327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800" b="1">
                <a:solidFill>
                  <a:srgbClr val="0F766E"/>
                </a:solidFill>
              </a:rPr>
              <a:t>RFID TO MONITORING</a:t>
            </a:r>
          </a:p>
        </p:txBody>
      </p:sp>
      <p:sp>
        <p:nvSpPr>
          <p:cNvPr id="5" name="Shape 5"/>
          <p:cNvSpPr/>
          <p:nvPr/>
        </p:nvSpPr>
        <p:spPr>
          <a:xfrm>
            <a:off x="502920" y="566928"/>
            <a:ext cx="10698480" cy="56692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2500" b="1">
                <a:solidFill>
                  <a:srgbClr val="0B2E4A"/>
                </a:solidFill>
              </a:rPr>
              <a:t>Luồng demo nghiệp vụ</a:t>
            </a:r>
          </a:p>
        </p:txBody>
      </p:sp>
      <p:sp>
        <p:nvSpPr>
          <p:cNvPr id="6" name="Shape 6"/>
          <p:cNvSpPr/>
          <p:nvPr/>
        </p:nvSpPr>
        <p:spPr>
          <a:xfrm>
            <a:off x="10771632" y="6327648"/>
            <a:ext cx="841248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mid"/>
          <a:lstStyle/>
          <a:p>
            <a:pPr algn="r"/>
            <a:r>
              <a:rPr lang="vi-VN" sz="1000" b="1">
                <a:solidFill>
                  <a:srgbClr val="5C7486"/>
                </a:solidFill>
              </a:rPr>
              <a:t>08</a:t>
            </a:r>
          </a:p>
        </p:txBody>
      </p:sp>
      <p:sp>
        <p:nvSpPr>
          <p:cNvPr id="7" name="Shape 7"/>
          <p:cNvSpPr/>
          <p:nvPr/>
        </p:nvSpPr>
        <p:spPr>
          <a:xfrm>
            <a:off x="502920" y="1874520"/>
            <a:ext cx="1481328" cy="749808"/>
          </a:xfrm>
          <a:prstGeom prst="roundRect">
            <a:avLst/>
          </a:prstGeom>
          <a:solidFill>
            <a:srgbClr val="DDF7F0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300" b="1">
                <a:solidFill>
                  <a:srgbClr val="123047"/>
                </a:solidFill>
              </a:rPr>
              <a:t>1</a:t>
            </a:r>
            <a:br/>
            <a:r>
              <a:rPr lang="vi-VN" sz="1300" b="1">
                <a:solidFill>
                  <a:srgbClr val="123047"/>
                </a:solidFill>
              </a:rPr>
              <a:t>Quét RFID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2029968" y="2249424"/>
            <a:ext cx="292608" cy="0"/>
          </a:xfrm>
          <a:prstGeom prst="line">
            <a:avLst/>
          </a:prstGeom>
          <a:ln w="21590">
            <a:solidFill>
              <a:srgbClr val="0F766E"/>
            </a:solidFill>
            <a:headEnd type="triangle"/>
          </a:ln>
        </p:spPr>
      </p:cxnSp>
      <p:sp>
        <p:nvSpPr>
          <p:cNvPr id="9" name="Shape 9"/>
          <p:cNvSpPr/>
          <p:nvPr/>
        </p:nvSpPr>
        <p:spPr>
          <a:xfrm>
            <a:off x="2386584" y="1874520"/>
            <a:ext cx="1481328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300" b="1">
                <a:solidFill>
                  <a:srgbClr val="123047"/>
                </a:solidFill>
              </a:rPr>
              <a:t>2</a:t>
            </a:r>
            <a:br/>
            <a:r>
              <a:rPr lang="vi-VN" sz="1300" b="1">
                <a:solidFill>
                  <a:srgbClr val="123047"/>
                </a:solidFill>
              </a:rPr>
              <a:t>Xác minh Face ID</a:t>
            </a:r>
          </a:p>
        </p:txBody>
      </p:sp>
      <p:cxnSp>
        <p:nvCxnSpPr>
          <p:cNvPr id="10" name="Connector 10"/>
          <p:cNvCxnSpPr/>
          <p:nvPr/>
        </p:nvCxnSpPr>
        <p:spPr>
          <a:xfrm>
            <a:off x="3913632" y="2249424"/>
            <a:ext cx="292608" cy="0"/>
          </a:xfrm>
          <a:prstGeom prst="line">
            <a:avLst/>
          </a:prstGeom>
          <a:ln w="21590">
            <a:solidFill>
              <a:srgbClr val="0F766E"/>
            </a:solidFill>
            <a:headEnd type="triangle"/>
          </a:ln>
        </p:spPr>
      </p:cxnSp>
      <p:sp>
        <p:nvSpPr>
          <p:cNvPr id="11" name="Shape 11"/>
          <p:cNvSpPr/>
          <p:nvPr/>
        </p:nvSpPr>
        <p:spPr>
          <a:xfrm>
            <a:off x="4270248" y="1874520"/>
            <a:ext cx="1481328" cy="749808"/>
          </a:xfrm>
          <a:prstGeom prst="roundRect">
            <a:avLst/>
          </a:prstGeom>
          <a:solidFill>
            <a:srgbClr val="DDF7F0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300" b="1">
                <a:solidFill>
                  <a:srgbClr val="123047"/>
                </a:solidFill>
              </a:rPr>
              <a:t>3</a:t>
            </a:r>
            <a:br/>
            <a:r>
              <a:rPr lang="vi-VN" sz="1300" b="1">
                <a:solidFill>
                  <a:srgbClr val="123047"/>
                </a:solidFill>
              </a:rPr>
              <a:t>Mở phiên lái</a:t>
            </a:r>
          </a:p>
        </p:txBody>
      </p:sp>
      <p:cxnSp>
        <p:nvCxnSpPr>
          <p:cNvPr id="12" name="Connector 12"/>
          <p:cNvCxnSpPr/>
          <p:nvPr/>
        </p:nvCxnSpPr>
        <p:spPr>
          <a:xfrm>
            <a:off x="5797296" y="2249424"/>
            <a:ext cx="292608" cy="0"/>
          </a:xfrm>
          <a:prstGeom prst="line">
            <a:avLst/>
          </a:prstGeom>
          <a:ln w="21590">
            <a:solidFill>
              <a:srgbClr val="0F766E"/>
            </a:solidFill>
            <a:headEnd type="triangle"/>
          </a:ln>
        </p:spPr>
      </p:cxnSp>
      <p:sp>
        <p:nvSpPr>
          <p:cNvPr id="13" name="Shape 13"/>
          <p:cNvSpPr/>
          <p:nvPr/>
        </p:nvSpPr>
        <p:spPr>
          <a:xfrm>
            <a:off x="6153912" y="1874520"/>
            <a:ext cx="1481328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300" b="1">
                <a:solidFill>
                  <a:srgbClr val="123047"/>
                </a:solidFill>
              </a:rPr>
              <a:t>4</a:t>
            </a:r>
            <a:br/>
            <a:r>
              <a:rPr lang="vi-VN" sz="1300" b="1">
                <a:solidFill>
                  <a:srgbClr val="123047"/>
                </a:solidFill>
              </a:rPr>
              <a:t>Giám sát AI</a:t>
            </a:r>
          </a:p>
        </p:txBody>
      </p:sp>
      <p:cxnSp>
        <p:nvCxnSpPr>
          <p:cNvPr id="14" name="Connector 14"/>
          <p:cNvCxnSpPr/>
          <p:nvPr/>
        </p:nvCxnSpPr>
        <p:spPr>
          <a:xfrm>
            <a:off x="7680960" y="2249424"/>
            <a:ext cx="292608" cy="0"/>
          </a:xfrm>
          <a:prstGeom prst="line">
            <a:avLst/>
          </a:prstGeom>
          <a:ln w="21590">
            <a:solidFill>
              <a:srgbClr val="0F766E"/>
            </a:solidFill>
            <a:headEnd type="triangle"/>
          </a:ln>
        </p:spPr>
      </p:cxnSp>
      <p:sp>
        <p:nvSpPr>
          <p:cNvPr id="15" name="Shape 15"/>
          <p:cNvSpPr/>
          <p:nvPr/>
        </p:nvSpPr>
        <p:spPr>
          <a:xfrm>
            <a:off x="8037576" y="1874520"/>
            <a:ext cx="1481328" cy="749808"/>
          </a:xfrm>
          <a:prstGeom prst="roundRect">
            <a:avLst/>
          </a:prstGeom>
          <a:solidFill>
            <a:srgbClr val="DDF7F0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300" b="1">
                <a:solidFill>
                  <a:srgbClr val="123047"/>
                </a:solidFill>
              </a:rPr>
              <a:t>5</a:t>
            </a:r>
            <a:br/>
            <a:r>
              <a:rPr lang="vi-VN" sz="1300" b="1">
                <a:solidFill>
                  <a:srgbClr val="123047"/>
                </a:solidFill>
              </a:rPr>
              <a:t>Cảnh báo</a:t>
            </a:r>
          </a:p>
        </p:txBody>
      </p:sp>
      <p:cxnSp>
        <p:nvCxnSpPr>
          <p:cNvPr id="16" name="Connector 16"/>
          <p:cNvCxnSpPr/>
          <p:nvPr/>
        </p:nvCxnSpPr>
        <p:spPr>
          <a:xfrm>
            <a:off x="9564624" y="2249424"/>
            <a:ext cx="292608" cy="0"/>
          </a:xfrm>
          <a:prstGeom prst="line">
            <a:avLst/>
          </a:prstGeom>
          <a:ln w="21590">
            <a:solidFill>
              <a:srgbClr val="0F766E"/>
            </a:solidFill>
            <a:headEnd type="triangle"/>
          </a:ln>
        </p:spPr>
      </p:cxnSp>
      <p:sp>
        <p:nvSpPr>
          <p:cNvPr id="17" name="Shape 17"/>
          <p:cNvSpPr/>
          <p:nvPr/>
        </p:nvSpPr>
        <p:spPr>
          <a:xfrm>
            <a:off x="9921240" y="1874520"/>
            <a:ext cx="1481328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300" b="1">
                <a:solidFill>
                  <a:srgbClr val="123047"/>
                </a:solidFill>
              </a:rPr>
              <a:t>6</a:t>
            </a:r>
            <a:br/>
            <a:r>
              <a:rPr lang="vi-VN" sz="1300" b="1">
                <a:solidFill>
                  <a:srgbClr val="123047"/>
                </a:solidFill>
              </a:rPr>
              <a:t>Lưu vết / hiển thị</a:t>
            </a:r>
          </a:p>
        </p:txBody>
      </p:sp>
      <p:sp>
        <p:nvSpPr>
          <p:cNvPr id="18" name="Shape 18"/>
          <p:cNvSpPr/>
          <p:nvPr/>
        </p:nvSpPr>
        <p:spPr>
          <a:xfrm>
            <a:off x="777240" y="3749040"/>
            <a:ext cx="1051560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mid"/>
          <a:lstStyle/>
          <a:p>
            <a:pPr algn="l"/>
            <a:r>
              <a:rPr lang="vi-VN" sz="1700" b="1">
                <a:solidFill>
                  <a:srgbClr val="123047"/>
                </a:solidFill>
              </a:rPr>
              <a:t>Điểm cần nhấn mạnh: RFID không tự động chứng minh danh tính tuyệt đối; Face ID giúp ràng buộc thẻ với đúng tài xế.</a:t>
            </a:r>
          </a:p>
        </p:txBody>
      </p:sp>
      <p:sp>
        <p:nvSpPr>
          <p:cNvPr id="19" name="Shape 19"/>
          <p:cNvSpPr/>
          <p:nvPr/>
        </p:nvSpPr>
        <p:spPr>
          <a:xfrm>
            <a:off x="914400" y="4434840"/>
            <a:ext cx="987552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600">
                <a:solidFill>
                  <a:srgbClr val="123047"/>
                </a:solidFill>
              </a:rPr>
              <a:t>• Nếu xác minh thành công: hệ thống bắt đầu phiên lái và bật giám sát.</a:t>
            </a:r>
          </a:p>
        </p:txBody>
      </p:sp>
      <p:sp>
        <p:nvSpPr>
          <p:cNvPr id="20" name="Shape 20"/>
          <p:cNvSpPr/>
          <p:nvPr/>
        </p:nvSpPr>
        <p:spPr>
          <a:xfrm>
            <a:off x="914400" y="4764024"/>
            <a:ext cx="987552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600">
                <a:solidFill>
                  <a:srgbClr val="123047"/>
                </a:solidFill>
              </a:rPr>
              <a:t>• Nếu thất bại hoặc mất kết nối: dashboard hiển thị trạng thái để người quản lý biết.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9525">
            <a:solidFill>
              <a:srgbClr val="F7FBFC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4" name="Shape 4"/>
          <p:cNvSpPr/>
          <p:nvPr/>
        </p:nvSpPr>
        <p:spPr>
          <a:xfrm>
            <a:off x="530352" y="347472"/>
            <a:ext cx="103327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800" b="1">
                <a:solidFill>
                  <a:srgbClr val="0F766E"/>
                </a:solidFill>
              </a:rPr>
              <a:t>COMPUTER VISION</a:t>
            </a:r>
          </a:p>
        </p:txBody>
      </p:sp>
      <p:sp>
        <p:nvSpPr>
          <p:cNvPr id="5" name="Shape 5"/>
          <p:cNvSpPr/>
          <p:nvPr/>
        </p:nvSpPr>
        <p:spPr>
          <a:xfrm>
            <a:off x="502920" y="566928"/>
            <a:ext cx="10698480" cy="56692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2500" b="1">
                <a:solidFill>
                  <a:srgbClr val="0B2E4A"/>
                </a:solidFill>
              </a:rPr>
              <a:t>Pipeline AI phát hiện buồn ngủ</a:t>
            </a:r>
          </a:p>
        </p:txBody>
      </p:sp>
      <p:sp>
        <p:nvSpPr>
          <p:cNvPr id="6" name="Shape 6"/>
          <p:cNvSpPr/>
          <p:nvPr/>
        </p:nvSpPr>
        <p:spPr>
          <a:xfrm>
            <a:off x="10771632" y="6327648"/>
            <a:ext cx="841248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mid"/>
          <a:lstStyle/>
          <a:p>
            <a:pPr algn="r"/>
            <a:r>
              <a:rPr lang="vi-VN" sz="1000" b="1">
                <a:solidFill>
                  <a:srgbClr val="5C7486"/>
                </a:solidFill>
              </a:rPr>
              <a:t>09</a:t>
            </a:r>
          </a:p>
        </p:txBody>
      </p:sp>
      <p:sp>
        <p:nvSpPr>
          <p:cNvPr id="7" name="Shape 7"/>
          <p:cNvSpPr/>
          <p:nvPr/>
        </p:nvSpPr>
        <p:spPr>
          <a:xfrm>
            <a:off x="658368" y="1783080"/>
            <a:ext cx="1700784" cy="804672"/>
          </a:xfrm>
          <a:prstGeom prst="roundRect">
            <a:avLst/>
          </a:prstGeom>
          <a:solidFill>
            <a:srgbClr val="DDF7F0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400" b="1">
                <a:solidFill>
                  <a:srgbClr val="0B2E4A"/>
                </a:solidFill>
              </a:rPr>
              <a:t>Frame camera</a:t>
            </a:r>
            <a:br/>
            <a:r>
              <a:rPr lang="vi-VN" sz="1400" b="1">
                <a:solidFill>
                  <a:srgbClr val="0B2E4A"/>
                </a:solidFill>
              </a:rPr>
              <a:t>Ảnh đầu vào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2395728" y="2194560"/>
            <a:ext cx="393192" cy="0"/>
          </a:xfrm>
          <a:prstGeom prst="line">
            <a:avLst/>
          </a:prstGeom>
          <a:ln w="21590">
            <a:solidFill>
              <a:srgbClr val="0F766E"/>
            </a:solidFill>
            <a:headEnd type="triangle"/>
          </a:ln>
        </p:spPr>
      </p:cxnSp>
      <p:sp>
        <p:nvSpPr>
          <p:cNvPr id="9" name="Shape 9"/>
          <p:cNvSpPr/>
          <p:nvPr/>
        </p:nvSpPr>
        <p:spPr>
          <a:xfrm>
            <a:off x="2898648" y="1783080"/>
            <a:ext cx="1700784" cy="804672"/>
          </a:xfrm>
          <a:prstGeom prst="roundRect">
            <a:avLst/>
          </a:prstGeom>
          <a:solidFill>
            <a:srgbClr val="EAF4FB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400" b="1">
                <a:solidFill>
                  <a:srgbClr val="0B2E4A"/>
                </a:solidFill>
              </a:rPr>
              <a:t>Face Mesh</a:t>
            </a:r>
            <a:br/>
            <a:r>
              <a:rPr lang="vi-VN" sz="1400" b="1">
                <a:solidFill>
                  <a:srgbClr val="0B2E4A"/>
                </a:solidFill>
              </a:rPr>
              <a:t>Mốc khuôn mặt</a:t>
            </a:r>
          </a:p>
        </p:txBody>
      </p:sp>
      <p:cxnSp>
        <p:nvCxnSpPr>
          <p:cNvPr id="10" name="Connector 10"/>
          <p:cNvCxnSpPr/>
          <p:nvPr/>
        </p:nvCxnSpPr>
        <p:spPr>
          <a:xfrm>
            <a:off x="4636008" y="2194560"/>
            <a:ext cx="393192" cy="0"/>
          </a:xfrm>
          <a:prstGeom prst="line">
            <a:avLst/>
          </a:prstGeom>
          <a:ln w="21590">
            <a:solidFill>
              <a:srgbClr val="0F766E"/>
            </a:solidFill>
            <a:headEnd type="triangle"/>
          </a:ln>
        </p:spPr>
      </p:cxnSp>
      <p:sp>
        <p:nvSpPr>
          <p:cNvPr id="11" name="Shape 11"/>
          <p:cNvSpPr/>
          <p:nvPr/>
        </p:nvSpPr>
        <p:spPr>
          <a:xfrm>
            <a:off x="5138928" y="1783080"/>
            <a:ext cx="1700784" cy="804672"/>
          </a:xfrm>
          <a:prstGeom prst="roundRect">
            <a:avLst/>
          </a:prstGeom>
          <a:solidFill>
            <a:srgbClr val="DDF7F0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400" b="1">
                <a:solidFill>
                  <a:srgbClr val="0B2E4A"/>
                </a:solidFill>
              </a:rPr>
              <a:t>EAR / mắt</a:t>
            </a:r>
            <a:br/>
            <a:r>
              <a:rPr lang="vi-VN" sz="1400" b="1">
                <a:solidFill>
                  <a:srgbClr val="0B2E4A"/>
                </a:solidFill>
              </a:rPr>
              <a:t>Trạng thái mắt</a:t>
            </a:r>
          </a:p>
        </p:txBody>
      </p:sp>
      <p:cxnSp>
        <p:nvCxnSpPr>
          <p:cNvPr id="12" name="Connector 12"/>
          <p:cNvCxnSpPr/>
          <p:nvPr/>
        </p:nvCxnSpPr>
        <p:spPr>
          <a:xfrm>
            <a:off x="6876288" y="2194560"/>
            <a:ext cx="393192" cy="0"/>
          </a:xfrm>
          <a:prstGeom prst="line">
            <a:avLst/>
          </a:prstGeom>
          <a:ln w="21590">
            <a:solidFill>
              <a:srgbClr val="0F766E"/>
            </a:solidFill>
            <a:headEnd type="triangle"/>
          </a:ln>
        </p:spPr>
      </p:cxnSp>
      <p:sp>
        <p:nvSpPr>
          <p:cNvPr id="13" name="Shape 13"/>
          <p:cNvSpPr/>
          <p:nvPr/>
        </p:nvSpPr>
        <p:spPr>
          <a:xfrm>
            <a:off x="7379208" y="1783080"/>
            <a:ext cx="1700784" cy="804672"/>
          </a:xfrm>
          <a:prstGeom prst="roundRect">
            <a:avLst/>
          </a:prstGeom>
          <a:solidFill>
            <a:srgbClr val="EAF4FB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400" b="1">
                <a:solidFill>
                  <a:srgbClr val="0B2E4A"/>
                </a:solidFill>
              </a:rPr>
              <a:t>Temporal logic</a:t>
            </a:r>
            <a:br/>
            <a:r>
              <a:rPr lang="vi-VN" sz="1400" b="1">
                <a:solidFill>
                  <a:srgbClr val="0B2E4A"/>
                </a:solidFill>
              </a:rPr>
              <a:t>Tích lũy theo thời gian</a:t>
            </a:r>
          </a:p>
        </p:txBody>
      </p:sp>
      <p:cxnSp>
        <p:nvCxnSpPr>
          <p:cNvPr id="14" name="Connector 14"/>
          <p:cNvCxnSpPr/>
          <p:nvPr/>
        </p:nvCxnSpPr>
        <p:spPr>
          <a:xfrm>
            <a:off x="9116568" y="2194560"/>
            <a:ext cx="393192" cy="0"/>
          </a:xfrm>
          <a:prstGeom prst="line">
            <a:avLst/>
          </a:prstGeom>
          <a:ln w="21590">
            <a:solidFill>
              <a:srgbClr val="0F766E"/>
            </a:solidFill>
            <a:headEnd type="triangle"/>
          </a:ln>
        </p:spPr>
      </p:cxnSp>
      <p:sp>
        <p:nvSpPr>
          <p:cNvPr id="15" name="Shape 15"/>
          <p:cNvSpPr/>
          <p:nvPr/>
        </p:nvSpPr>
        <p:spPr>
          <a:xfrm>
            <a:off x="9619488" y="1783080"/>
            <a:ext cx="1700784" cy="804672"/>
          </a:xfrm>
          <a:prstGeom prst="roundRect">
            <a:avLst/>
          </a:prstGeom>
          <a:solidFill>
            <a:srgbClr val="DDF7F0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400" b="1">
                <a:solidFill>
                  <a:srgbClr val="0B2E4A"/>
                </a:solidFill>
              </a:rPr>
              <a:t>Alert level</a:t>
            </a:r>
            <a:br/>
            <a:r>
              <a:rPr lang="vi-VN" sz="1400" b="1">
                <a:solidFill>
                  <a:srgbClr val="0B2E4A"/>
                </a:solidFill>
              </a:rPr>
              <a:t>Cảnh báo</a:t>
            </a:r>
          </a:p>
        </p:txBody>
      </p:sp>
      <p:sp>
        <p:nvSpPr>
          <p:cNvPr id="16" name="Shape 16"/>
          <p:cNvSpPr/>
          <p:nvPr/>
        </p:nvSpPr>
        <p:spPr>
          <a:xfrm>
            <a:off x="822960" y="3657600"/>
            <a:ext cx="48920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600" b="1">
                <a:solidFill>
                  <a:srgbClr val="123047"/>
                </a:solidFill>
              </a:rPr>
              <a:t>Bản chất AI trong demo</a:t>
            </a:r>
            <a:br/>
            <a:r>
              <a:rPr lang="vi-VN" sz="1600" b="1">
                <a:solidFill>
                  <a:srgbClr val="123047"/>
                </a:solidFill>
              </a:rPr>
              <a:t/>
            </a:r>
            <a:br/>
            <a:r>
              <a:rPr lang="vi-VN" sz="1600" b="1">
                <a:solidFill>
                  <a:srgbClr val="123047"/>
                </a:solidFill>
              </a:rPr>
              <a:t>Thị giác máy tính + luật thời gian, không phải mô hình deep learning nặng.</a:t>
            </a:r>
          </a:p>
        </p:txBody>
      </p:sp>
      <p:sp>
        <p:nvSpPr>
          <p:cNvPr id="17" name="Shape 17"/>
          <p:cNvSpPr/>
          <p:nvPr/>
        </p:nvSpPr>
        <p:spPr>
          <a:xfrm>
            <a:off x="6355080" y="3657600"/>
            <a:ext cx="480060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600" b="1">
                <a:solidFill>
                  <a:srgbClr val="123047"/>
                </a:solidFill>
              </a:rPr>
              <a:t>Lý do phù hợp Jetson Nano</a:t>
            </a:r>
            <a:br/>
            <a:r>
              <a:rPr lang="vi-VN" sz="1600" b="1">
                <a:solidFill>
                  <a:srgbClr val="123047"/>
                </a:solidFill>
              </a:rPr>
              <a:t/>
            </a:r>
            <a:br/>
            <a:r>
              <a:rPr lang="vi-VN" sz="1600" b="1">
                <a:solidFill>
                  <a:srgbClr val="123047"/>
                </a:solidFill>
              </a:rPr>
              <a:t>Nhẹ, chạy cục bộ, giải thích được và đủ ổn định cho demo đồ án.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9525">
            <a:solidFill>
              <a:srgbClr val="F7FBFC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4" name="Shape 4"/>
          <p:cNvSpPr/>
          <p:nvPr/>
        </p:nvSpPr>
        <p:spPr>
          <a:xfrm>
            <a:off x="530352" y="347472"/>
            <a:ext cx="103327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800" b="1">
                <a:solidFill>
                  <a:srgbClr val="0F766E"/>
                </a:solidFill>
              </a:rPr>
              <a:t>METRICS</a:t>
            </a:r>
          </a:p>
        </p:txBody>
      </p:sp>
      <p:sp>
        <p:nvSpPr>
          <p:cNvPr id="5" name="Shape 5"/>
          <p:cNvSpPr/>
          <p:nvPr/>
        </p:nvSpPr>
        <p:spPr>
          <a:xfrm>
            <a:off x="502920" y="566928"/>
            <a:ext cx="10698480" cy="56692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2500" b="1">
                <a:solidFill>
                  <a:srgbClr val="0B2E4A"/>
                </a:solidFill>
              </a:rPr>
              <a:t>Các chỉ số AI cần giải thích</a:t>
            </a:r>
          </a:p>
        </p:txBody>
      </p:sp>
      <p:sp>
        <p:nvSpPr>
          <p:cNvPr id="6" name="Shape 6"/>
          <p:cNvSpPr/>
          <p:nvPr/>
        </p:nvSpPr>
        <p:spPr>
          <a:xfrm>
            <a:off x="10771632" y="6327648"/>
            <a:ext cx="841248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mid"/>
          <a:lstStyle/>
          <a:p>
            <a:pPr algn="r"/>
            <a:r>
              <a:rPr lang="vi-VN" sz="1000" b="1">
                <a:solidFill>
                  <a:srgbClr val="5C7486"/>
                </a:solidFill>
              </a:rPr>
              <a:t>10</a:t>
            </a:r>
          </a:p>
        </p:txBody>
      </p:sp>
      <p:sp>
        <p:nvSpPr>
          <p:cNvPr id="7" name="Shape 7"/>
          <p:cNvSpPr/>
          <p:nvPr/>
        </p:nvSpPr>
        <p:spPr>
          <a:xfrm>
            <a:off x="749808" y="1417320"/>
            <a:ext cx="2560320" cy="1188720"/>
          </a:xfrm>
          <a:prstGeom prst="roundRect">
            <a:avLst/>
          </a:prstGeom>
          <a:solidFill>
            <a:srgbClr val="DDF7F0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500" b="1">
                <a:solidFill>
                  <a:srgbClr val="123047"/>
                </a:solidFill>
              </a:rPr>
              <a:t>EAR</a:t>
            </a:r>
            <a:br/>
            <a:r>
              <a:rPr lang="vi-VN" sz="1500" b="1">
                <a:solidFill>
                  <a:srgbClr val="123047"/>
                </a:solidFill>
              </a:rPr>
              <a:t>Eye Aspect Ratio</a:t>
            </a:r>
            <a:br/>
            <a:r>
              <a:rPr lang="vi-VN" sz="1500" b="1">
                <a:solidFill>
                  <a:srgbClr val="123047"/>
                </a:solidFill>
              </a:rPr>
              <a:t/>
            </a:r>
            <a:br/>
            <a:r>
              <a:rPr lang="vi-VN" sz="1500" b="1">
                <a:solidFill>
                  <a:srgbClr val="123047"/>
                </a:solidFill>
              </a:rPr>
              <a:t>Mắt càng nhắm, EAR càng giảm.</a:t>
            </a:r>
          </a:p>
        </p:txBody>
      </p:sp>
      <p:sp>
        <p:nvSpPr>
          <p:cNvPr id="8" name="Shape 8"/>
          <p:cNvSpPr/>
          <p:nvPr/>
        </p:nvSpPr>
        <p:spPr>
          <a:xfrm>
            <a:off x="3566160" y="1417320"/>
            <a:ext cx="2560320" cy="1188720"/>
          </a:xfrm>
          <a:prstGeom prst="roundRect">
            <a:avLst/>
          </a:prstGeom>
          <a:solidFill>
            <a:srgbClr val="EAF4FB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500" b="1">
                <a:solidFill>
                  <a:srgbClr val="123047"/>
                </a:solidFill>
              </a:rPr>
              <a:t>PERCLOS</a:t>
            </a:r>
            <a:br/>
            <a:r>
              <a:rPr lang="vi-VN" sz="1500" b="1">
                <a:solidFill>
                  <a:srgbClr val="123047"/>
                </a:solidFill>
              </a:rPr>
              <a:t/>
            </a:r>
            <a:br/>
            <a:r>
              <a:rPr lang="vi-VN" sz="1500" b="1">
                <a:solidFill>
                  <a:srgbClr val="123047"/>
                </a:solidFill>
              </a:rPr>
              <a:t>Tỉ lệ thời gian mắt nhắm trong một cửa sổ thời gian.</a:t>
            </a:r>
          </a:p>
        </p:txBody>
      </p:sp>
      <p:sp>
        <p:nvSpPr>
          <p:cNvPr id="9" name="Shape 9"/>
          <p:cNvSpPr/>
          <p:nvPr/>
        </p:nvSpPr>
        <p:spPr>
          <a:xfrm>
            <a:off x="6382512" y="1417320"/>
            <a:ext cx="256032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500" b="1">
                <a:solidFill>
                  <a:srgbClr val="123047"/>
                </a:solidFill>
              </a:rPr>
              <a:t>Baseline</a:t>
            </a:r>
            <a:br/>
            <a:r>
              <a:rPr lang="vi-VN" sz="1500" b="1">
                <a:solidFill>
                  <a:srgbClr val="123047"/>
                </a:solidFill>
              </a:rPr>
              <a:t/>
            </a:r>
            <a:br/>
            <a:r>
              <a:rPr lang="vi-VN" sz="1500" b="1">
                <a:solidFill>
                  <a:srgbClr val="123047"/>
                </a:solidFill>
              </a:rPr>
              <a:t>Mức mắt mở bình thường của từng người.</a:t>
            </a:r>
          </a:p>
        </p:txBody>
      </p:sp>
      <p:sp>
        <p:nvSpPr>
          <p:cNvPr id="10" name="Shape 10"/>
          <p:cNvSpPr/>
          <p:nvPr/>
        </p:nvSpPr>
        <p:spPr>
          <a:xfrm>
            <a:off x="9198864" y="1417320"/>
            <a:ext cx="2194560" cy="1188720"/>
          </a:xfrm>
          <a:prstGeom prst="roundRect">
            <a:avLst/>
          </a:prstGeom>
          <a:solidFill>
            <a:srgbClr val="FDF7E7"/>
          </a:solidFill>
          <a:ln w="9525">
            <a:solidFill>
              <a:srgbClr val="E5C669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500" b="1">
                <a:solidFill>
                  <a:srgbClr val="123047"/>
                </a:solidFill>
              </a:rPr>
              <a:t>Debounce</a:t>
            </a:r>
            <a:br/>
            <a:r>
              <a:rPr lang="vi-VN" sz="1500" b="1">
                <a:solidFill>
                  <a:srgbClr val="123047"/>
                </a:solidFill>
              </a:rPr>
              <a:t/>
            </a:r>
            <a:br/>
            <a:r>
              <a:rPr lang="vi-VN" sz="1500" b="1">
                <a:solidFill>
                  <a:srgbClr val="123047"/>
                </a:solidFill>
              </a:rPr>
              <a:t>Tránh cảnh báo vì nhiễu một frame.</a:t>
            </a:r>
          </a:p>
        </p:txBody>
      </p:sp>
      <p:sp>
        <p:nvSpPr>
          <p:cNvPr id="11" name="Shape 11"/>
          <p:cNvSpPr/>
          <p:nvPr/>
        </p:nvSpPr>
        <p:spPr>
          <a:xfrm>
            <a:off x="914400" y="3383280"/>
            <a:ext cx="987552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FPS camera: tốc độ lấy ảnh từ camera.</a:t>
            </a:r>
          </a:p>
        </p:txBody>
      </p:sp>
      <p:sp>
        <p:nvSpPr>
          <p:cNvPr id="12" name="Shape 12"/>
          <p:cNvSpPr/>
          <p:nvPr/>
        </p:nvSpPr>
        <p:spPr>
          <a:xfrm>
            <a:off x="914400" y="3712464"/>
            <a:ext cx="987552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FPS AI: số frame thật sự được xử lý bởi thuật toán, thường thấp hơn để tiết kiệm tài nguyên.</a:t>
            </a:r>
          </a:p>
        </p:txBody>
      </p:sp>
      <p:sp>
        <p:nvSpPr>
          <p:cNvPr id="13" name="Shape 13"/>
          <p:cNvSpPr/>
          <p:nvPr/>
        </p:nvSpPr>
        <p:spPr>
          <a:xfrm>
            <a:off x="914400" y="4041648"/>
            <a:ext cx="987552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Cảnh báo dựa trên trạng thái kéo dài theo thời gian, không dựa vào một ảnh đơn lẻ.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9525">
            <a:solidFill>
              <a:srgbClr val="F7FBFC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4" name="Shape 4"/>
          <p:cNvSpPr/>
          <p:nvPr/>
        </p:nvSpPr>
        <p:spPr>
          <a:xfrm>
            <a:off x="530352" y="347472"/>
            <a:ext cx="103327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800" b="1">
                <a:solidFill>
                  <a:srgbClr val="0F766E"/>
                </a:solidFill>
              </a:rPr>
              <a:t>IDENTITY</a:t>
            </a:r>
          </a:p>
        </p:txBody>
      </p:sp>
      <p:sp>
        <p:nvSpPr>
          <p:cNvPr id="5" name="Shape 5"/>
          <p:cNvSpPr/>
          <p:nvPr/>
        </p:nvSpPr>
        <p:spPr>
          <a:xfrm>
            <a:off x="502920" y="566928"/>
            <a:ext cx="10698480" cy="56692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2500" b="1">
                <a:solidFill>
                  <a:srgbClr val="0B2E4A"/>
                </a:solidFill>
              </a:rPr>
              <a:t>RFID, Face ID và phiên lái</a:t>
            </a:r>
          </a:p>
        </p:txBody>
      </p:sp>
      <p:sp>
        <p:nvSpPr>
          <p:cNvPr id="6" name="Shape 6"/>
          <p:cNvSpPr/>
          <p:nvPr/>
        </p:nvSpPr>
        <p:spPr>
          <a:xfrm>
            <a:off x="10771632" y="6327648"/>
            <a:ext cx="841248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mid"/>
          <a:lstStyle/>
          <a:p>
            <a:pPr algn="r"/>
            <a:r>
              <a:rPr lang="vi-VN" sz="1000" b="1">
                <a:solidFill>
                  <a:srgbClr val="5C7486"/>
                </a:solidFill>
              </a:rPr>
              <a:t>11</a:t>
            </a:r>
          </a:p>
        </p:txBody>
      </p:sp>
      <p:sp>
        <p:nvSpPr>
          <p:cNvPr id="7" name="Shape 7"/>
          <p:cNvSpPr/>
          <p:nvPr/>
        </p:nvSpPr>
        <p:spPr>
          <a:xfrm>
            <a:off x="822960" y="1508760"/>
            <a:ext cx="224028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600" b="1">
                <a:solidFill>
                  <a:srgbClr val="0B2E4A"/>
                </a:solidFill>
              </a:rPr>
              <a:t>RFID</a:t>
            </a:r>
            <a:br/>
            <a:r>
              <a:rPr lang="vi-VN" sz="1600" b="1">
                <a:solidFill>
                  <a:srgbClr val="0B2E4A"/>
                </a:solidFill>
              </a:rPr>
              <a:t>định danh thẻ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3127248" y="1874520"/>
            <a:ext cx="502920" cy="0"/>
          </a:xfrm>
          <a:prstGeom prst="line">
            <a:avLst/>
          </a:prstGeom>
          <a:ln w="21590">
            <a:solidFill>
              <a:srgbClr val="0F766E"/>
            </a:solidFill>
            <a:headEnd type="triangle"/>
          </a:ln>
        </p:spPr>
      </p:cxnSp>
      <p:sp>
        <p:nvSpPr>
          <p:cNvPr id="9" name="Shape 9"/>
          <p:cNvSpPr/>
          <p:nvPr/>
        </p:nvSpPr>
        <p:spPr>
          <a:xfrm>
            <a:off x="3657600" y="1508760"/>
            <a:ext cx="2240280" cy="731520"/>
          </a:xfrm>
          <a:prstGeom prst="roundRect">
            <a:avLst/>
          </a:prstGeom>
          <a:solidFill>
            <a:srgbClr val="DDF7F0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600" b="1">
                <a:solidFill>
                  <a:srgbClr val="0B2E4A"/>
                </a:solidFill>
              </a:rPr>
              <a:t>Face ID</a:t>
            </a:r>
            <a:br/>
            <a:r>
              <a:rPr lang="vi-VN" sz="1600" b="1">
                <a:solidFill>
                  <a:srgbClr val="0B2E4A"/>
                </a:solidFill>
              </a:rPr>
              <a:t>xác minh người</a:t>
            </a:r>
          </a:p>
        </p:txBody>
      </p:sp>
      <p:cxnSp>
        <p:nvCxnSpPr>
          <p:cNvPr id="10" name="Connector 10"/>
          <p:cNvCxnSpPr/>
          <p:nvPr/>
        </p:nvCxnSpPr>
        <p:spPr>
          <a:xfrm>
            <a:off x="5961888" y="1874520"/>
            <a:ext cx="502920" cy="0"/>
          </a:xfrm>
          <a:prstGeom prst="line">
            <a:avLst/>
          </a:prstGeom>
          <a:ln w="21590">
            <a:solidFill>
              <a:srgbClr val="0F766E"/>
            </a:solidFill>
            <a:headEnd type="triangle"/>
          </a:ln>
        </p:spPr>
      </p:cxnSp>
      <p:sp>
        <p:nvSpPr>
          <p:cNvPr id="11" name="Shape 11"/>
          <p:cNvSpPr/>
          <p:nvPr/>
        </p:nvSpPr>
        <p:spPr>
          <a:xfrm>
            <a:off x="6492240" y="1508760"/>
            <a:ext cx="2240280" cy="731520"/>
          </a:xfrm>
          <a:prstGeom prst="roundRect">
            <a:avLst/>
          </a:prstGeom>
          <a:solidFill>
            <a:srgbClr val="EAF4FB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600" b="1">
                <a:solidFill>
                  <a:srgbClr val="0B2E4A"/>
                </a:solidFill>
              </a:rPr>
              <a:t>Session</a:t>
            </a:r>
            <a:br/>
            <a:r>
              <a:rPr lang="vi-VN" sz="1600" b="1">
                <a:solidFill>
                  <a:srgbClr val="0B2E4A"/>
                </a:solidFill>
              </a:rPr>
              <a:t>phiên lái</a:t>
            </a:r>
          </a:p>
        </p:txBody>
      </p:sp>
      <p:cxnSp>
        <p:nvCxnSpPr>
          <p:cNvPr id="12" name="Connector 12"/>
          <p:cNvCxnSpPr/>
          <p:nvPr/>
        </p:nvCxnSpPr>
        <p:spPr>
          <a:xfrm>
            <a:off x="8796528" y="1874520"/>
            <a:ext cx="502920" cy="0"/>
          </a:xfrm>
          <a:prstGeom prst="line">
            <a:avLst/>
          </a:prstGeom>
          <a:ln w="21590">
            <a:solidFill>
              <a:srgbClr val="0F766E"/>
            </a:solidFill>
            <a:headEnd type="triangle"/>
          </a:ln>
        </p:spPr>
      </p:cxnSp>
      <p:sp>
        <p:nvSpPr>
          <p:cNvPr id="13" name="Shape 13"/>
          <p:cNvSpPr/>
          <p:nvPr/>
        </p:nvSpPr>
        <p:spPr>
          <a:xfrm>
            <a:off x="9326880" y="1508760"/>
            <a:ext cx="1920240" cy="731520"/>
          </a:xfrm>
          <a:prstGeom prst="roundRect">
            <a:avLst/>
          </a:prstGeom>
          <a:solidFill>
            <a:srgbClr val="FDF7E7"/>
          </a:solidFill>
          <a:ln w="9525">
            <a:solidFill>
              <a:srgbClr val="E5C669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600" b="1">
                <a:solidFill>
                  <a:srgbClr val="123047"/>
                </a:solidFill>
              </a:rPr>
              <a:t>AI</a:t>
            </a:r>
            <a:br/>
            <a:r>
              <a:rPr lang="vi-VN" sz="1600" b="1">
                <a:solidFill>
                  <a:srgbClr val="123047"/>
                </a:solidFill>
              </a:rPr>
              <a:t>monitor</a:t>
            </a:r>
          </a:p>
        </p:txBody>
      </p:sp>
      <p:sp>
        <p:nvSpPr>
          <p:cNvPr id="14" name="Shape 14"/>
          <p:cNvSpPr/>
          <p:nvPr/>
        </p:nvSpPr>
        <p:spPr>
          <a:xfrm>
            <a:off x="914400" y="2971800"/>
            <a:ext cx="996696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>• RFID giúp hệ thống biết tài xế dự kiến là ai.</a:t>
            </a:r>
          </a:p>
        </p:txBody>
      </p:sp>
      <p:sp>
        <p:nvSpPr>
          <p:cNvPr id="15" name="Shape 15"/>
          <p:cNvSpPr/>
          <p:nvPr/>
        </p:nvSpPr>
        <p:spPr>
          <a:xfrm>
            <a:off x="914400" y="3300984"/>
            <a:ext cx="996696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>• Face ID giảm rủi ro dùng nhầm hoặc dùng hộ thẻ.</a:t>
            </a:r>
          </a:p>
        </p:txBody>
      </p:sp>
      <p:sp>
        <p:nvSpPr>
          <p:cNvPr id="16" name="Shape 16"/>
          <p:cNvSpPr/>
          <p:nvPr/>
        </p:nvSpPr>
        <p:spPr>
          <a:xfrm>
            <a:off x="914400" y="3630168"/>
            <a:ext cx="996696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>• Session là đơn vị lưu lịch sử, cảnh báo, thời gian bắt đầu và kết thúc.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9525">
            <a:solidFill>
              <a:srgbClr val="F7FBFC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4" name="Shape 4"/>
          <p:cNvSpPr/>
          <p:nvPr/>
        </p:nvSpPr>
        <p:spPr>
          <a:xfrm>
            <a:off x="530352" y="347472"/>
            <a:ext cx="103327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800" b="1">
                <a:solidFill>
                  <a:srgbClr val="0F766E"/>
                </a:solidFill>
              </a:rPr>
              <a:t>COMMUNICATION</a:t>
            </a:r>
          </a:p>
        </p:txBody>
      </p:sp>
      <p:sp>
        <p:nvSpPr>
          <p:cNvPr id="5" name="Shape 5"/>
          <p:cNvSpPr/>
          <p:nvPr/>
        </p:nvSpPr>
        <p:spPr>
          <a:xfrm>
            <a:off x="502920" y="566928"/>
            <a:ext cx="10698480" cy="56692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2500" b="1">
                <a:solidFill>
                  <a:srgbClr val="0B2E4A"/>
                </a:solidFill>
              </a:rPr>
              <a:t>Realtime: WebSocket, EventBus, SSE</a:t>
            </a:r>
          </a:p>
        </p:txBody>
      </p:sp>
      <p:sp>
        <p:nvSpPr>
          <p:cNvPr id="6" name="Shape 6"/>
          <p:cNvSpPr/>
          <p:nvPr/>
        </p:nvSpPr>
        <p:spPr>
          <a:xfrm>
            <a:off x="10771632" y="6327648"/>
            <a:ext cx="841248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mid"/>
          <a:lstStyle/>
          <a:p>
            <a:pPr algn="r"/>
            <a:r>
              <a:rPr lang="vi-VN" sz="1000" b="1">
                <a:solidFill>
                  <a:srgbClr val="5C7486"/>
                </a:solidFill>
              </a:rPr>
              <a:t>12</a:t>
            </a:r>
          </a:p>
        </p:txBody>
      </p:sp>
      <p:sp>
        <p:nvSpPr>
          <p:cNvPr id="7" name="Shape 7"/>
          <p:cNvSpPr/>
          <p:nvPr/>
        </p:nvSpPr>
        <p:spPr>
          <a:xfrm>
            <a:off x="731520" y="1417320"/>
            <a:ext cx="2148840" cy="658368"/>
          </a:xfrm>
          <a:prstGeom prst="roundRect">
            <a:avLst/>
          </a:prstGeom>
          <a:solidFill>
            <a:srgbClr val="DDF7F0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700" b="1">
                <a:solidFill>
                  <a:srgbClr val="0B2E4A"/>
                </a:solidFill>
              </a:rPr>
              <a:t>Jetson Edge</a:t>
            </a:r>
          </a:p>
        </p:txBody>
      </p:sp>
      <p:sp>
        <p:nvSpPr>
          <p:cNvPr id="8" name="Shape 8"/>
          <p:cNvSpPr/>
          <p:nvPr/>
        </p:nvSpPr>
        <p:spPr>
          <a:xfrm>
            <a:off x="3749040" y="1417320"/>
            <a:ext cx="214884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700" b="1">
                <a:solidFill>
                  <a:srgbClr val="123047"/>
                </a:solidFill>
              </a:rPr>
              <a:t>WebSocket</a:t>
            </a:r>
          </a:p>
        </p:txBody>
      </p:sp>
      <p:sp>
        <p:nvSpPr>
          <p:cNvPr id="9" name="Shape 9"/>
          <p:cNvSpPr/>
          <p:nvPr/>
        </p:nvSpPr>
        <p:spPr>
          <a:xfrm>
            <a:off x="6766560" y="1417320"/>
            <a:ext cx="2148840" cy="658368"/>
          </a:xfrm>
          <a:prstGeom prst="roundRect">
            <a:avLst/>
          </a:prstGeom>
          <a:solidFill>
            <a:srgbClr val="EAF4FB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700" b="1">
                <a:solidFill>
                  <a:srgbClr val="123047"/>
                </a:solidFill>
              </a:rPr>
              <a:t>EventBus</a:t>
            </a:r>
          </a:p>
        </p:txBody>
      </p:sp>
      <p:sp>
        <p:nvSpPr>
          <p:cNvPr id="10" name="Shape 10"/>
          <p:cNvSpPr/>
          <p:nvPr/>
        </p:nvSpPr>
        <p:spPr>
          <a:xfrm>
            <a:off x="9326880" y="1417320"/>
            <a:ext cx="214884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700" b="1">
                <a:solidFill>
                  <a:srgbClr val="123047"/>
                </a:solidFill>
              </a:rPr>
              <a:t>Browser SSE</a:t>
            </a:r>
          </a:p>
        </p:txBody>
      </p:sp>
      <p:cxnSp>
        <p:nvCxnSpPr>
          <p:cNvPr id="11" name="Connector 11"/>
          <p:cNvCxnSpPr/>
          <p:nvPr/>
        </p:nvCxnSpPr>
        <p:spPr>
          <a:xfrm>
            <a:off x="2926080" y="1746504"/>
            <a:ext cx="749808" cy="0"/>
          </a:xfrm>
          <a:prstGeom prst="line">
            <a:avLst/>
          </a:prstGeom>
          <a:ln w="21590">
            <a:solidFill>
              <a:srgbClr val="0F766E"/>
            </a:solidFill>
            <a:headEnd type="triangle"/>
          </a:ln>
        </p:spPr>
      </p:cxnSp>
      <p:cxnSp>
        <p:nvCxnSpPr>
          <p:cNvPr id="12" name="Connector 12"/>
          <p:cNvCxnSpPr/>
          <p:nvPr/>
        </p:nvCxnSpPr>
        <p:spPr>
          <a:xfrm>
            <a:off x="5943600" y="1746504"/>
            <a:ext cx="749808" cy="0"/>
          </a:xfrm>
          <a:prstGeom prst="line">
            <a:avLst/>
          </a:prstGeom>
          <a:ln w="21590">
            <a:solidFill>
              <a:srgbClr val="0F766E"/>
            </a:solidFill>
            <a:headEnd type="triangle"/>
          </a:ln>
        </p:spPr>
      </p:cxnSp>
      <p:cxnSp>
        <p:nvCxnSpPr>
          <p:cNvPr id="13" name="Connector 13"/>
          <p:cNvCxnSpPr/>
          <p:nvPr/>
        </p:nvCxnSpPr>
        <p:spPr>
          <a:xfrm>
            <a:off x="8961120" y="1746504"/>
            <a:ext cx="292608" cy="0"/>
          </a:xfrm>
          <a:prstGeom prst="line">
            <a:avLst/>
          </a:prstGeom>
          <a:ln w="21590">
            <a:solidFill>
              <a:srgbClr val="0F766E"/>
            </a:solidFill>
            <a:headEnd type="triangle"/>
          </a:ln>
        </p:spPr>
      </p:cxnSp>
      <p:sp>
        <p:nvSpPr>
          <p:cNvPr id="14" name="Shape 14"/>
          <p:cNvSpPr/>
          <p:nvPr/>
        </p:nvSpPr>
        <p:spPr>
          <a:xfrm>
            <a:off x="914400" y="3017520"/>
            <a:ext cx="987552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WebSocket dùng cho kênh Jetson gửi trạng thái và cảnh báo về server.</a:t>
            </a:r>
          </a:p>
        </p:txBody>
      </p:sp>
      <p:sp>
        <p:nvSpPr>
          <p:cNvPr id="15" name="Shape 15"/>
          <p:cNvSpPr/>
          <p:nvPr/>
        </p:nvSpPr>
        <p:spPr>
          <a:xfrm>
            <a:off x="914400" y="3346704"/>
            <a:ext cx="987552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EventBus gom sự kiện nội bộ để dashboard nhận cập nhật mới.</a:t>
            </a:r>
          </a:p>
        </p:txBody>
      </p:sp>
      <p:sp>
        <p:nvSpPr>
          <p:cNvPr id="16" name="Shape 16"/>
          <p:cNvSpPr/>
          <p:nvPr/>
        </p:nvSpPr>
        <p:spPr>
          <a:xfrm>
            <a:off x="914400" y="3675888"/>
            <a:ext cx="987552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SSE giúp trình duyệt tự nhận dữ liệu realtime mà không cần reload.</a:t>
            </a:r>
          </a:p>
        </p:txBody>
      </p:sp>
      <p:sp>
        <p:nvSpPr>
          <p:cNvPr id="17" name="Shape 17"/>
          <p:cNvSpPr/>
          <p:nvPr/>
        </p:nvSpPr>
        <p:spPr>
          <a:xfrm>
            <a:off x="914400" y="5074920"/>
            <a:ext cx="9875520" cy="310896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mid"/>
          <a:lstStyle/>
          <a:p>
            <a:pPr algn="l"/>
            <a:r>
              <a:rPr lang="vi-VN" sz="1600">
                <a:solidFill>
                  <a:srgbClr val="5C7486"/>
                </a:solidFill>
              </a:rPr>
              <a:t>Trong demo qua hai máy khác mạng, Tailscale giúp hai bên nhìn thấy nhau bằng IP riêng ổn định.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9525">
            <a:solidFill>
              <a:srgbClr val="F7FBFC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4" name="Shape 4"/>
          <p:cNvSpPr/>
          <p:nvPr/>
        </p:nvSpPr>
        <p:spPr>
          <a:xfrm>
            <a:off x="530352" y="347472"/>
            <a:ext cx="103327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800" b="1">
                <a:solidFill>
                  <a:srgbClr val="0F766E"/>
                </a:solidFill>
              </a:rPr>
              <a:t>DATA</a:t>
            </a:r>
          </a:p>
        </p:txBody>
      </p:sp>
      <p:sp>
        <p:nvSpPr>
          <p:cNvPr id="5" name="Shape 5"/>
          <p:cNvSpPr/>
          <p:nvPr/>
        </p:nvSpPr>
        <p:spPr>
          <a:xfrm>
            <a:off x="502920" y="566928"/>
            <a:ext cx="10698480" cy="56692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2500" b="1">
                <a:solidFill>
                  <a:srgbClr val="0B2E4A"/>
                </a:solidFill>
              </a:rPr>
              <a:t>Database và dữ liệu lưu trữ</a:t>
            </a:r>
          </a:p>
        </p:txBody>
      </p:sp>
      <p:sp>
        <p:nvSpPr>
          <p:cNvPr id="6" name="Shape 6"/>
          <p:cNvSpPr/>
          <p:nvPr/>
        </p:nvSpPr>
        <p:spPr>
          <a:xfrm>
            <a:off x="10771632" y="6327648"/>
            <a:ext cx="841248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mid"/>
          <a:lstStyle/>
          <a:p>
            <a:pPr algn="r"/>
            <a:r>
              <a:rPr lang="vi-VN" sz="1000" b="1">
                <a:solidFill>
                  <a:srgbClr val="5C7486"/>
                </a:solidFill>
              </a:rPr>
              <a:t>13</a:t>
            </a:r>
          </a:p>
        </p:txBody>
      </p:sp>
      <p:sp>
        <p:nvSpPr>
          <p:cNvPr id="7" name="Shape 7"/>
          <p:cNvSpPr/>
          <p:nvPr/>
        </p:nvSpPr>
        <p:spPr>
          <a:xfrm>
            <a:off x="731520" y="1389888"/>
            <a:ext cx="201168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600" b="1">
                <a:solidFill>
                  <a:srgbClr val="123047"/>
                </a:solidFill>
              </a:rPr>
              <a:t>Drivers</a:t>
            </a:r>
            <a:br/>
            <a:r>
              <a:rPr lang="vi-VN" sz="1600" b="1">
                <a:solidFill>
                  <a:srgbClr val="123047"/>
                </a:solidFill>
              </a:rPr>
              <a:t>Tài xế</a:t>
            </a:r>
          </a:p>
        </p:txBody>
      </p:sp>
      <p:sp>
        <p:nvSpPr>
          <p:cNvPr id="8" name="Shape 8"/>
          <p:cNvSpPr/>
          <p:nvPr/>
        </p:nvSpPr>
        <p:spPr>
          <a:xfrm>
            <a:off x="3246120" y="1389888"/>
            <a:ext cx="2011680" cy="685800"/>
          </a:xfrm>
          <a:prstGeom prst="roundRect">
            <a:avLst/>
          </a:prstGeom>
          <a:solidFill>
            <a:srgbClr val="DDF7F0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600" b="1">
                <a:solidFill>
                  <a:srgbClr val="0B2E4A"/>
                </a:solidFill>
              </a:rPr>
              <a:t>Sessions</a:t>
            </a:r>
            <a:br/>
            <a:r>
              <a:rPr lang="vi-VN" sz="1600" b="1">
                <a:solidFill>
                  <a:srgbClr val="0B2E4A"/>
                </a:solidFill>
              </a:rPr>
              <a:t>Phiên lái</a:t>
            </a:r>
          </a:p>
        </p:txBody>
      </p:sp>
      <p:sp>
        <p:nvSpPr>
          <p:cNvPr id="9" name="Shape 9"/>
          <p:cNvSpPr/>
          <p:nvPr/>
        </p:nvSpPr>
        <p:spPr>
          <a:xfrm>
            <a:off x="5760720" y="1389888"/>
            <a:ext cx="201168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600" b="1">
                <a:solidFill>
                  <a:srgbClr val="123047"/>
                </a:solidFill>
              </a:rPr>
              <a:t>Alerts</a:t>
            </a:r>
            <a:br/>
            <a:r>
              <a:rPr lang="vi-VN" sz="1600" b="1">
                <a:solidFill>
                  <a:srgbClr val="123047"/>
                </a:solidFill>
              </a:rPr>
              <a:t>Cảnh báo</a:t>
            </a:r>
          </a:p>
        </p:txBody>
      </p:sp>
      <p:sp>
        <p:nvSpPr>
          <p:cNvPr id="10" name="Shape 10"/>
          <p:cNvSpPr/>
          <p:nvPr/>
        </p:nvSpPr>
        <p:spPr>
          <a:xfrm>
            <a:off x="8275320" y="1389888"/>
            <a:ext cx="2011680" cy="685800"/>
          </a:xfrm>
          <a:prstGeom prst="roundRect">
            <a:avLst/>
          </a:prstGeom>
          <a:solidFill>
            <a:srgbClr val="EAF4FB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600" b="1">
                <a:solidFill>
                  <a:srgbClr val="123047"/>
                </a:solidFill>
              </a:rPr>
              <a:t>Stats</a:t>
            </a:r>
            <a:br/>
            <a:r>
              <a:rPr lang="vi-VN" sz="1600" b="1">
                <a:solidFill>
                  <a:srgbClr val="123047"/>
                </a:solidFill>
              </a:rPr>
              <a:t>Thống kê</a:t>
            </a:r>
          </a:p>
        </p:txBody>
      </p:sp>
      <p:cxnSp>
        <p:nvCxnSpPr>
          <p:cNvPr id="11" name="Connector 11"/>
          <p:cNvCxnSpPr/>
          <p:nvPr/>
        </p:nvCxnSpPr>
        <p:spPr>
          <a:xfrm>
            <a:off x="2788920" y="1728216"/>
            <a:ext cx="411480" cy="0"/>
          </a:xfrm>
          <a:prstGeom prst="line">
            <a:avLst/>
          </a:prstGeom>
          <a:ln w="21590">
            <a:solidFill>
              <a:srgbClr val="0F766E"/>
            </a:solidFill>
            <a:headEnd type="triangle"/>
          </a:ln>
        </p:spPr>
      </p:cxnSp>
      <p:cxnSp>
        <p:nvCxnSpPr>
          <p:cNvPr id="12" name="Connector 12"/>
          <p:cNvCxnSpPr/>
          <p:nvPr/>
        </p:nvCxnSpPr>
        <p:spPr>
          <a:xfrm>
            <a:off x="5303520" y="1728216"/>
            <a:ext cx="411480" cy="0"/>
          </a:xfrm>
          <a:prstGeom prst="line">
            <a:avLst/>
          </a:prstGeom>
          <a:ln w="21590">
            <a:solidFill>
              <a:srgbClr val="0F766E"/>
            </a:solidFill>
            <a:headEnd type="triangle"/>
          </a:ln>
        </p:spPr>
      </p:cxnSp>
      <p:cxnSp>
        <p:nvCxnSpPr>
          <p:cNvPr id="13" name="Connector 13"/>
          <p:cNvCxnSpPr/>
          <p:nvPr/>
        </p:nvCxnSpPr>
        <p:spPr>
          <a:xfrm>
            <a:off x="7818120" y="1728216"/>
            <a:ext cx="411480" cy="0"/>
          </a:xfrm>
          <a:prstGeom prst="line">
            <a:avLst/>
          </a:prstGeom>
          <a:ln w="21590">
            <a:solidFill>
              <a:srgbClr val="0F766E"/>
            </a:solidFill>
            <a:headEnd type="triangle"/>
          </a:ln>
        </p:spPr>
      </p:cxnSp>
      <p:sp>
        <p:nvSpPr>
          <p:cNvPr id="14" name="Shape 14"/>
          <p:cNvSpPr/>
          <p:nvPr/>
        </p:nvSpPr>
        <p:spPr>
          <a:xfrm>
            <a:off x="914400" y="2880360"/>
            <a:ext cx="996696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CSDL phục vụ quản lý và truy vết sau phiên lái.</a:t>
            </a:r>
          </a:p>
        </p:txBody>
      </p:sp>
      <p:sp>
        <p:nvSpPr>
          <p:cNvPr id="15" name="Shape 15"/>
          <p:cNvSpPr/>
          <p:nvPr/>
        </p:nvSpPr>
        <p:spPr>
          <a:xfrm>
            <a:off x="914400" y="3209544"/>
            <a:ext cx="996696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Dashboard không chỉ hiển thị realtime mà còn có lịch sử để đối chiếu.</a:t>
            </a:r>
          </a:p>
        </p:txBody>
      </p:sp>
      <p:sp>
        <p:nvSpPr>
          <p:cNvPr id="16" name="Shape 16"/>
          <p:cNvSpPr/>
          <p:nvPr/>
        </p:nvSpPr>
        <p:spPr>
          <a:xfrm>
            <a:off x="914400" y="3538728"/>
            <a:ext cx="996696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RFID được dùng như liên kết định danh tài xế trong dữ liệu.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9525">
            <a:solidFill>
              <a:srgbClr val="F7FBFC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4" name="Shape 4"/>
          <p:cNvSpPr/>
          <p:nvPr/>
        </p:nvSpPr>
        <p:spPr>
          <a:xfrm>
            <a:off x="530352" y="347472"/>
            <a:ext cx="103327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800" b="1">
                <a:solidFill>
                  <a:srgbClr val="0F766E"/>
                </a:solidFill>
              </a:rPr>
              <a:t>RELIABILITY</a:t>
            </a:r>
          </a:p>
        </p:txBody>
      </p:sp>
      <p:sp>
        <p:nvSpPr>
          <p:cNvPr id="5" name="Shape 5"/>
          <p:cNvSpPr/>
          <p:nvPr/>
        </p:nvSpPr>
        <p:spPr>
          <a:xfrm>
            <a:off x="502920" y="566928"/>
            <a:ext cx="10698480" cy="56692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2500" b="1">
                <a:solidFill>
                  <a:srgbClr val="0B2E4A"/>
                </a:solidFill>
              </a:rPr>
              <a:t>Chịu lỗi mạng, GPS và phần cứng</a:t>
            </a:r>
          </a:p>
        </p:txBody>
      </p:sp>
      <p:sp>
        <p:nvSpPr>
          <p:cNvPr id="6" name="Shape 6"/>
          <p:cNvSpPr/>
          <p:nvPr/>
        </p:nvSpPr>
        <p:spPr>
          <a:xfrm>
            <a:off x="10771632" y="6327648"/>
            <a:ext cx="841248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mid"/>
          <a:lstStyle/>
          <a:p>
            <a:pPr algn="r"/>
            <a:r>
              <a:rPr lang="vi-VN" sz="1000" b="1">
                <a:solidFill>
                  <a:srgbClr val="5C7486"/>
                </a:solidFill>
              </a:rPr>
              <a:t>14</a:t>
            </a:r>
          </a:p>
        </p:txBody>
      </p:sp>
      <p:sp>
        <p:nvSpPr>
          <p:cNvPr id="7" name="Shape 7"/>
          <p:cNvSpPr/>
          <p:nvPr/>
        </p:nvSpPr>
        <p:spPr>
          <a:xfrm>
            <a:off x="731520" y="1463040"/>
            <a:ext cx="3063240" cy="1051560"/>
          </a:xfrm>
          <a:prstGeom prst="roundRect">
            <a:avLst/>
          </a:prstGeom>
          <a:solidFill>
            <a:srgbClr val="FFF4F4"/>
          </a:solidFill>
          <a:ln w="9525">
            <a:solidFill>
              <a:srgbClr val="D64545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500" b="1">
                <a:solidFill>
                  <a:srgbClr val="123047"/>
                </a:solidFill>
              </a:rPr>
              <a:t>Mất WebSocket</a:t>
            </a:r>
            <a:br/>
            <a:r>
              <a:rPr lang="vi-VN" sz="1500" b="1">
                <a:solidFill>
                  <a:srgbClr val="123047"/>
                </a:solidFill>
              </a:rPr>
              <a:t/>
            </a:r>
            <a:br/>
            <a:r>
              <a:rPr lang="vi-VN" sz="1500" b="1">
                <a:solidFill>
                  <a:srgbClr val="123047"/>
                </a:solidFill>
              </a:rPr>
              <a:t>Jetson có thể buffer sự kiện và tự reconnect.</a:t>
            </a:r>
          </a:p>
        </p:txBody>
      </p:sp>
      <p:sp>
        <p:nvSpPr>
          <p:cNvPr id="8" name="Shape 8"/>
          <p:cNvSpPr/>
          <p:nvPr/>
        </p:nvSpPr>
        <p:spPr>
          <a:xfrm>
            <a:off x="4434840" y="1463040"/>
            <a:ext cx="3063240" cy="1051560"/>
          </a:xfrm>
          <a:prstGeom prst="roundRect">
            <a:avLst/>
          </a:prstGeom>
          <a:solidFill>
            <a:srgbClr val="FDF7E7"/>
          </a:solidFill>
          <a:ln w="9525">
            <a:solidFill>
              <a:srgbClr val="E5C669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500" b="1">
                <a:solidFill>
                  <a:srgbClr val="123047"/>
                </a:solidFill>
              </a:rPr>
              <a:t>GPS</a:t>
            </a:r>
            <a:br/>
            <a:r>
              <a:rPr lang="vi-VN" sz="1500" b="1">
                <a:solidFill>
                  <a:srgbClr val="123047"/>
                </a:solidFill>
              </a:rPr>
              <a:t/>
            </a:r>
            <a:br/>
            <a:r>
              <a:rPr lang="vi-VN" sz="1500" b="1">
                <a:solidFill>
                  <a:srgbClr val="123047"/>
                </a:solidFill>
              </a:rPr>
              <a:t>Tách rõ có dữ liệu NMEA và có fix vệ tinh.</a:t>
            </a:r>
          </a:p>
        </p:txBody>
      </p:sp>
      <p:sp>
        <p:nvSpPr>
          <p:cNvPr id="9" name="Shape 9"/>
          <p:cNvSpPr/>
          <p:nvPr/>
        </p:nvSpPr>
        <p:spPr>
          <a:xfrm>
            <a:off x="8138160" y="1463040"/>
            <a:ext cx="3063240" cy="1051560"/>
          </a:xfrm>
          <a:prstGeom prst="roundRect">
            <a:avLst/>
          </a:prstGeom>
          <a:solidFill>
            <a:srgbClr val="DDF7F0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500" b="1">
                <a:solidFill>
                  <a:srgbClr val="123047"/>
                </a:solidFill>
              </a:rPr>
              <a:t>Thiết bị</a:t>
            </a:r>
            <a:br/>
            <a:r>
              <a:rPr lang="vi-VN" sz="1500" b="1">
                <a:solidFill>
                  <a:srgbClr val="123047"/>
                </a:solidFill>
              </a:rPr>
              <a:t/>
            </a:r>
            <a:br/>
            <a:r>
              <a:rPr lang="vi-VN" sz="1500" b="1">
                <a:solidFill>
                  <a:srgbClr val="123047"/>
                </a:solidFill>
              </a:rPr>
              <a:t>Dashboard hiển thị trạng thái nguồn, camera, RFID, loa.</a:t>
            </a:r>
          </a:p>
        </p:txBody>
      </p:sp>
      <p:sp>
        <p:nvSpPr>
          <p:cNvPr id="10" name="Shape 10"/>
          <p:cNvSpPr/>
          <p:nvPr/>
        </p:nvSpPr>
        <p:spPr>
          <a:xfrm>
            <a:off x="914400" y="3246120"/>
            <a:ext cx="992124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Điểm mạnh demo: trạng thái lỗi được đưa lên màn hình quản lý thay vì im lặng.</a:t>
            </a:r>
          </a:p>
        </p:txBody>
      </p:sp>
      <p:sp>
        <p:nvSpPr>
          <p:cNvPr id="11" name="Shape 11"/>
          <p:cNvSpPr/>
          <p:nvPr/>
        </p:nvSpPr>
        <p:spPr>
          <a:xfrm>
            <a:off x="914400" y="3575304"/>
            <a:ext cx="992124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Tailscale được dùng để ổn định kết nối demo khi Jetson và laptop không cùng mạng LAN.</a:t>
            </a:r>
          </a:p>
        </p:txBody>
      </p:sp>
      <p:sp>
        <p:nvSpPr>
          <p:cNvPr id="12" name="Shape 12"/>
          <p:cNvSpPr/>
          <p:nvPr/>
        </p:nvSpPr>
        <p:spPr>
          <a:xfrm>
            <a:off x="914400" y="3904488"/>
            <a:ext cx="992124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GPS có thể cần thời gian bắt vệ tinh, không nên xem chưa fix là hỏng module.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9525">
            <a:solidFill>
              <a:srgbClr val="F7FBFC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4" name="Shape 4"/>
          <p:cNvSpPr/>
          <p:nvPr/>
        </p:nvSpPr>
        <p:spPr>
          <a:xfrm>
            <a:off x="530352" y="347472"/>
            <a:ext cx="103327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800" b="1">
                <a:solidFill>
                  <a:srgbClr val="0F766E"/>
                </a:solidFill>
              </a:rPr>
              <a:t>SCOPE</a:t>
            </a:r>
          </a:p>
        </p:txBody>
      </p:sp>
      <p:sp>
        <p:nvSpPr>
          <p:cNvPr id="5" name="Shape 5"/>
          <p:cNvSpPr/>
          <p:nvPr/>
        </p:nvSpPr>
        <p:spPr>
          <a:xfrm>
            <a:off x="502920" y="566928"/>
            <a:ext cx="10698480" cy="56692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2500" b="1">
                <a:solidFill>
                  <a:srgbClr val="0B2E4A"/>
                </a:solidFill>
              </a:rPr>
              <a:t>Bảo mật và giới hạn demo</a:t>
            </a:r>
          </a:p>
        </p:txBody>
      </p:sp>
      <p:sp>
        <p:nvSpPr>
          <p:cNvPr id="6" name="Shape 6"/>
          <p:cNvSpPr/>
          <p:nvPr/>
        </p:nvSpPr>
        <p:spPr>
          <a:xfrm>
            <a:off x="10771632" y="6327648"/>
            <a:ext cx="841248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mid"/>
          <a:lstStyle/>
          <a:p>
            <a:pPr algn="r"/>
            <a:r>
              <a:rPr lang="vi-VN" sz="1000" b="1">
                <a:solidFill>
                  <a:srgbClr val="5C7486"/>
                </a:solidFill>
              </a:rPr>
              <a:t>15</a:t>
            </a:r>
          </a:p>
        </p:txBody>
      </p:sp>
      <p:sp>
        <p:nvSpPr>
          <p:cNvPr id="7" name="Shape 7"/>
          <p:cNvSpPr/>
          <p:nvPr/>
        </p:nvSpPr>
        <p:spPr>
          <a:xfrm>
            <a:off x="777240" y="1417320"/>
            <a:ext cx="4754880" cy="1261872"/>
          </a:xfrm>
          <a:prstGeom prst="roundRect">
            <a:avLst/>
          </a:prstGeom>
          <a:solidFill>
            <a:srgbClr val="DDF7F0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600" b="1">
                <a:solidFill>
                  <a:srgbClr val="123047"/>
                </a:solidFill>
              </a:rPr>
              <a:t>Đã làm trong phạm vi đồ án</a:t>
            </a:r>
            <a:br/>
            <a:r>
              <a:rPr lang="vi-VN" sz="1600" b="1">
                <a:solidFill>
                  <a:srgbClr val="123047"/>
                </a:solidFill>
              </a:rPr>
              <a:t/>
            </a:r>
            <a:br/>
            <a:r>
              <a:rPr lang="vi-VN" sz="1600" b="1">
                <a:solidFill>
                  <a:srgbClr val="123047"/>
                </a:solidFill>
              </a:rPr>
              <a:t>RFID + Face ID, realtime monitoring, cảnh báo tại xe, lưu lịch sử.</a:t>
            </a:r>
          </a:p>
        </p:txBody>
      </p:sp>
      <p:sp>
        <p:nvSpPr>
          <p:cNvPr id="8" name="Shape 8"/>
          <p:cNvSpPr/>
          <p:nvPr/>
        </p:nvSpPr>
        <p:spPr>
          <a:xfrm>
            <a:off x="6263640" y="1417320"/>
            <a:ext cx="4754880" cy="1261872"/>
          </a:xfrm>
          <a:prstGeom prst="roundRect">
            <a:avLst/>
          </a:prstGeom>
          <a:solidFill>
            <a:srgbClr val="FFF4F4"/>
          </a:solidFill>
          <a:ln w="9525">
            <a:solidFill>
              <a:srgbClr val="D64545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600" b="1">
                <a:solidFill>
                  <a:srgbClr val="123047"/>
                </a:solidFill>
              </a:rPr>
              <a:t>Không trình bày quá mức</a:t>
            </a:r>
            <a:br/>
            <a:r>
              <a:rPr lang="vi-VN" sz="1600" b="1">
                <a:solidFill>
                  <a:srgbClr val="123047"/>
                </a:solidFill>
              </a:rPr>
              <a:t/>
            </a:r>
            <a:br/>
            <a:r>
              <a:rPr lang="vi-VN" sz="1600" b="1">
                <a:solidFill>
                  <a:srgbClr val="123047"/>
                </a:solidFill>
              </a:rPr>
              <a:t>OTA hiện nên xem là hướng mở rộng, không phải chức năng demo chính.</a:t>
            </a:r>
          </a:p>
        </p:txBody>
      </p:sp>
      <p:sp>
        <p:nvSpPr>
          <p:cNvPr id="9" name="Shape 9"/>
          <p:cNvSpPr/>
          <p:nvPr/>
        </p:nvSpPr>
        <p:spPr>
          <a:xfrm>
            <a:off x="914400" y="3246120"/>
            <a:ext cx="987552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600">
                <a:solidFill>
                  <a:srgbClr val="123047"/>
                </a:solidFill>
              </a:rPr>
              <a:t>• Khi hội đồng hỏi, cần phân biệt phần đã implement và phần dự kiến phát triển.</a:t>
            </a:r>
          </a:p>
        </p:txBody>
      </p:sp>
      <p:sp>
        <p:nvSpPr>
          <p:cNvPr id="10" name="Shape 10"/>
          <p:cNvSpPr/>
          <p:nvPr/>
        </p:nvSpPr>
        <p:spPr>
          <a:xfrm>
            <a:off x="914400" y="3575304"/>
            <a:ext cx="987552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600">
                <a:solidFill>
                  <a:srgbClr val="123047"/>
                </a:solidFill>
              </a:rPr>
              <a:t>• Bảo mật demo tập trung ở xác minh danh tính tài xế và mạng riêng Tailscale.</a:t>
            </a:r>
          </a:p>
        </p:txBody>
      </p:sp>
      <p:sp>
        <p:nvSpPr>
          <p:cNvPr id="11" name="Shape 11"/>
          <p:cNvSpPr/>
          <p:nvPr/>
        </p:nvSpPr>
        <p:spPr>
          <a:xfrm>
            <a:off x="914400" y="3904488"/>
            <a:ext cx="987552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600">
                <a:solidFill>
                  <a:srgbClr val="123047"/>
                </a:solidFill>
              </a:rPr>
              <a:t>• Các giới hạn còn lại: dữ liệu thử nghiệm nhỏ, ánh sáng/camera ảnh hưởng nhận diện, Jetson Nano tài nguyên hạn chế.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9525">
            <a:solidFill>
              <a:srgbClr val="F7FBFC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4" name="Shape 4"/>
          <p:cNvSpPr/>
          <p:nvPr/>
        </p:nvSpPr>
        <p:spPr>
          <a:xfrm>
            <a:off x="530352" y="347472"/>
            <a:ext cx="103327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800" b="1">
                <a:solidFill>
                  <a:srgbClr val="0F766E"/>
                </a:solidFill>
              </a:rPr>
              <a:t>VALIDATION</a:t>
            </a:r>
          </a:p>
        </p:txBody>
      </p:sp>
      <p:sp>
        <p:nvSpPr>
          <p:cNvPr id="5" name="Shape 5"/>
          <p:cNvSpPr/>
          <p:nvPr/>
        </p:nvSpPr>
        <p:spPr>
          <a:xfrm>
            <a:off x="502920" y="566928"/>
            <a:ext cx="10698480" cy="56692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2500" b="1">
                <a:solidFill>
                  <a:srgbClr val="0B2E4A"/>
                </a:solidFill>
              </a:rPr>
              <a:t>Kiểm thử và chứng minh</a:t>
            </a:r>
          </a:p>
        </p:txBody>
      </p:sp>
      <p:sp>
        <p:nvSpPr>
          <p:cNvPr id="6" name="Shape 6"/>
          <p:cNvSpPr/>
          <p:nvPr/>
        </p:nvSpPr>
        <p:spPr>
          <a:xfrm>
            <a:off x="10771632" y="6327648"/>
            <a:ext cx="841248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mid"/>
          <a:lstStyle/>
          <a:p>
            <a:pPr algn="r"/>
            <a:r>
              <a:rPr lang="vi-VN" sz="1000" b="1">
                <a:solidFill>
                  <a:srgbClr val="5C7486"/>
                </a:solidFill>
              </a:rPr>
              <a:t>16</a:t>
            </a:r>
          </a:p>
        </p:txBody>
      </p:sp>
      <p:sp>
        <p:nvSpPr>
          <p:cNvPr id="7" name="Shape 7"/>
          <p:cNvSpPr/>
          <p:nvPr/>
        </p:nvSpPr>
        <p:spPr>
          <a:xfrm>
            <a:off x="731520" y="1417320"/>
            <a:ext cx="297180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600" b="1">
                <a:solidFill>
                  <a:srgbClr val="123047"/>
                </a:solidFill>
              </a:rPr>
              <a:t>Kiểm thử cảm biến</a:t>
            </a:r>
            <a:br/>
            <a:r>
              <a:rPr lang="vi-VN" sz="1600" b="1">
                <a:solidFill>
                  <a:srgbClr val="123047"/>
                </a:solidFill>
              </a:rPr>
              <a:t>RFID, camera, GPS, loa</a:t>
            </a:r>
          </a:p>
        </p:txBody>
      </p:sp>
      <p:sp>
        <p:nvSpPr>
          <p:cNvPr id="8" name="Shape 8"/>
          <p:cNvSpPr/>
          <p:nvPr/>
        </p:nvSpPr>
        <p:spPr>
          <a:xfrm>
            <a:off x="4069080" y="1417320"/>
            <a:ext cx="2971800" cy="841248"/>
          </a:xfrm>
          <a:prstGeom prst="roundRect">
            <a:avLst/>
          </a:prstGeom>
          <a:solidFill>
            <a:srgbClr val="DDF7F0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600" b="1">
                <a:solidFill>
                  <a:srgbClr val="0B2E4A"/>
                </a:solidFill>
              </a:rPr>
              <a:t>Kiểm thử realtime</a:t>
            </a:r>
            <a:br/>
            <a:r>
              <a:rPr lang="vi-VN" sz="1600" b="1">
                <a:solidFill>
                  <a:srgbClr val="0B2E4A"/>
                </a:solidFill>
              </a:rPr>
              <a:t>WebSocket, SSE, dashboard</a:t>
            </a:r>
          </a:p>
        </p:txBody>
      </p:sp>
      <p:sp>
        <p:nvSpPr>
          <p:cNvPr id="9" name="Shape 9"/>
          <p:cNvSpPr/>
          <p:nvPr/>
        </p:nvSpPr>
        <p:spPr>
          <a:xfrm>
            <a:off x="7406640" y="1417320"/>
            <a:ext cx="2971800" cy="841248"/>
          </a:xfrm>
          <a:prstGeom prst="roundRect">
            <a:avLst/>
          </a:prstGeom>
          <a:solidFill>
            <a:srgbClr val="EAF4FB"/>
          </a:solidFill>
          <a:ln w="9525">
            <a:solidFill>
              <a:srgbClr val="A9CCD4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600" b="1">
                <a:solidFill>
                  <a:srgbClr val="123047"/>
                </a:solidFill>
              </a:rPr>
              <a:t>Kiểm thử nghiệp vụ</a:t>
            </a:r>
            <a:br/>
            <a:r>
              <a:rPr lang="vi-VN" sz="1600" b="1">
                <a:solidFill>
                  <a:srgbClr val="123047"/>
                </a:solidFill>
              </a:rPr>
              <a:t>check-in, session, alert</a:t>
            </a:r>
          </a:p>
        </p:txBody>
      </p:sp>
      <p:sp>
        <p:nvSpPr>
          <p:cNvPr id="10" name="Shape 10"/>
          <p:cNvSpPr/>
          <p:nvPr/>
        </p:nvSpPr>
        <p:spPr>
          <a:xfrm>
            <a:off x="914400" y="2880360"/>
            <a:ext cx="987552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Demo nên đi theo kịch bản có kiểm soát: mở hub, mở Edge Runtime, quét RFID, xác minh, mô phỏng buồn ngủ.</a:t>
            </a:r>
          </a:p>
        </p:txBody>
      </p:sp>
      <p:sp>
        <p:nvSpPr>
          <p:cNvPr id="11" name="Shape 11"/>
          <p:cNvSpPr/>
          <p:nvPr/>
        </p:nvSpPr>
        <p:spPr>
          <a:xfrm>
            <a:off x="914400" y="3209544"/>
            <a:ext cx="987552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Các chỉ số cần quan sát: trạng thái kết nối, tài xế hiện tại, cảnh báo gần đây, vị trí GPS.</a:t>
            </a:r>
          </a:p>
        </p:txBody>
      </p:sp>
      <p:sp>
        <p:nvSpPr>
          <p:cNvPr id="12" name="Shape 12"/>
          <p:cNvSpPr/>
          <p:nvPr/>
        </p:nvSpPr>
        <p:spPr>
          <a:xfrm>
            <a:off x="914400" y="3538728"/>
            <a:ext cx="987552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Bằng chứng tốt nhất là vừa có log terminal vừa có dashboard đổi trạng thái.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9525">
            <a:solidFill>
              <a:srgbClr val="F7FBFC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4" name="Shape 4"/>
          <p:cNvSpPr/>
          <p:nvPr/>
        </p:nvSpPr>
        <p:spPr>
          <a:xfrm>
            <a:off x="530352" y="347472"/>
            <a:ext cx="103327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800" b="1">
                <a:solidFill>
                  <a:srgbClr val="0F766E"/>
                </a:solidFill>
              </a:rPr>
              <a:t>FUTURE WORK</a:t>
            </a:r>
          </a:p>
        </p:txBody>
      </p:sp>
      <p:sp>
        <p:nvSpPr>
          <p:cNvPr id="5" name="Shape 5"/>
          <p:cNvSpPr/>
          <p:nvPr/>
        </p:nvSpPr>
        <p:spPr>
          <a:xfrm>
            <a:off x="502920" y="566928"/>
            <a:ext cx="10698480" cy="56692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2500" b="1">
                <a:solidFill>
                  <a:srgbClr val="0B2E4A"/>
                </a:solidFill>
              </a:rPr>
              <a:t>Hạn chế và hướng phát triển</a:t>
            </a:r>
          </a:p>
        </p:txBody>
      </p:sp>
      <p:sp>
        <p:nvSpPr>
          <p:cNvPr id="6" name="Shape 6"/>
          <p:cNvSpPr/>
          <p:nvPr/>
        </p:nvSpPr>
        <p:spPr>
          <a:xfrm>
            <a:off x="10771632" y="6327648"/>
            <a:ext cx="841248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mid"/>
          <a:lstStyle/>
          <a:p>
            <a:pPr algn="r"/>
            <a:r>
              <a:rPr lang="vi-VN" sz="1000" b="1">
                <a:solidFill>
                  <a:srgbClr val="5C7486"/>
                </a:solidFill>
              </a:rPr>
              <a:t>17</a:t>
            </a:r>
          </a:p>
        </p:txBody>
      </p:sp>
      <p:sp>
        <p:nvSpPr>
          <p:cNvPr id="7" name="Shape 7"/>
          <p:cNvSpPr/>
          <p:nvPr/>
        </p:nvSpPr>
        <p:spPr>
          <a:xfrm>
            <a:off x="777240" y="1417320"/>
            <a:ext cx="4800600" cy="658368"/>
          </a:xfrm>
          <a:prstGeom prst="roundRect">
            <a:avLst/>
          </a:prstGeom>
          <a:solidFill>
            <a:srgbClr val="0B2E4A"/>
          </a:solidFill>
          <a:ln w="9525">
            <a:solidFill>
              <a:srgbClr val="0B2E4A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800" b="1">
                <a:solidFill>
                  <a:srgbClr val="FFFFFF"/>
                </a:solidFill>
              </a:rPr>
              <a:t>Hạn chế hiện tại</a:t>
            </a:r>
          </a:p>
        </p:txBody>
      </p:sp>
      <p:sp>
        <p:nvSpPr>
          <p:cNvPr id="8" name="Shape 8"/>
          <p:cNvSpPr/>
          <p:nvPr/>
        </p:nvSpPr>
        <p:spPr>
          <a:xfrm>
            <a:off x="914400" y="2331720"/>
            <a:ext cx="466344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600">
                <a:solidFill>
                  <a:srgbClr val="123047"/>
                </a:solidFill>
              </a:rPr>
              <a:t>• Phụ thuộc điều kiện ánh sáng và góc camera.</a:t>
            </a:r>
          </a:p>
        </p:txBody>
      </p:sp>
      <p:sp>
        <p:nvSpPr>
          <p:cNvPr id="9" name="Shape 9"/>
          <p:cNvSpPr/>
          <p:nvPr/>
        </p:nvSpPr>
        <p:spPr>
          <a:xfrm>
            <a:off x="914400" y="2660904"/>
            <a:ext cx="466344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600">
                <a:solidFill>
                  <a:srgbClr val="123047"/>
                </a:solidFill>
              </a:rPr>
              <a:t>• Tập dữ liệu kiểm thử còn nhỏ.</a:t>
            </a:r>
          </a:p>
        </p:txBody>
      </p:sp>
      <p:sp>
        <p:nvSpPr>
          <p:cNvPr id="10" name="Shape 10"/>
          <p:cNvSpPr/>
          <p:nvPr/>
        </p:nvSpPr>
        <p:spPr>
          <a:xfrm>
            <a:off x="914400" y="2990088"/>
            <a:ext cx="466344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600">
                <a:solidFill>
                  <a:srgbClr val="123047"/>
                </a:solidFill>
              </a:rPr>
              <a:t>• Jetson Nano giới hạn tài nguyên.</a:t>
            </a:r>
          </a:p>
        </p:txBody>
      </p:sp>
      <p:sp>
        <p:nvSpPr>
          <p:cNvPr id="11" name="Shape 11"/>
          <p:cNvSpPr/>
          <p:nvPr/>
        </p:nvSpPr>
        <p:spPr>
          <a:xfrm>
            <a:off x="914400" y="3319272"/>
            <a:ext cx="466344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600">
                <a:solidFill>
                  <a:srgbClr val="123047"/>
                </a:solidFill>
              </a:rPr>
              <a:t>• GPS trong nhà dễ chưa có fix.</a:t>
            </a:r>
          </a:p>
        </p:txBody>
      </p:sp>
      <p:sp>
        <p:nvSpPr>
          <p:cNvPr id="12" name="Shape 12"/>
          <p:cNvSpPr/>
          <p:nvPr/>
        </p:nvSpPr>
        <p:spPr>
          <a:xfrm>
            <a:off x="6263640" y="1417320"/>
            <a:ext cx="4800600" cy="658368"/>
          </a:xfrm>
          <a:prstGeom prst="round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800" b="1">
                <a:solidFill>
                  <a:srgbClr val="FFFFFF"/>
                </a:solidFill>
              </a:rPr>
              <a:t>Hướng phát triển</a:t>
            </a:r>
          </a:p>
        </p:txBody>
      </p:sp>
      <p:sp>
        <p:nvSpPr>
          <p:cNvPr id="13" name="Shape 13"/>
          <p:cNvSpPr/>
          <p:nvPr/>
        </p:nvSpPr>
        <p:spPr>
          <a:xfrm>
            <a:off x="6400800" y="2331720"/>
            <a:ext cx="466344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600">
                <a:solidFill>
                  <a:srgbClr val="123047"/>
                </a:solidFill>
              </a:rPr>
              <a:t>• Bổ sung mô hình học sâu khi có dữ liệu đủ lớn.</a:t>
            </a:r>
          </a:p>
        </p:txBody>
      </p:sp>
      <p:sp>
        <p:nvSpPr>
          <p:cNvPr id="14" name="Shape 14"/>
          <p:cNvSpPr/>
          <p:nvPr/>
        </p:nvSpPr>
        <p:spPr>
          <a:xfrm>
            <a:off x="6400800" y="2660904"/>
            <a:ext cx="466344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600">
                <a:solidFill>
                  <a:srgbClr val="123047"/>
                </a:solidFill>
              </a:rPr>
              <a:t>• Cải thiện xác thực khuôn mặt đa điều kiện.</a:t>
            </a:r>
          </a:p>
        </p:txBody>
      </p:sp>
      <p:sp>
        <p:nvSpPr>
          <p:cNvPr id="15" name="Shape 15"/>
          <p:cNvSpPr/>
          <p:nvPr/>
        </p:nvSpPr>
        <p:spPr>
          <a:xfrm>
            <a:off x="6400800" y="2990088"/>
            <a:ext cx="466344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600">
                <a:solidFill>
                  <a:srgbClr val="123047"/>
                </a:solidFill>
              </a:rPr>
              <a:t>• Thêm quản trị đội xe, phân quyền và báo cáo.</a:t>
            </a:r>
          </a:p>
        </p:txBody>
      </p:sp>
      <p:sp>
        <p:nvSpPr>
          <p:cNvPr id="16" name="Shape 16"/>
          <p:cNvSpPr/>
          <p:nvPr/>
        </p:nvSpPr>
        <p:spPr>
          <a:xfrm>
            <a:off x="6400800" y="3319272"/>
            <a:ext cx="466344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600">
                <a:solidFill>
                  <a:srgbClr val="123047"/>
                </a:solidFill>
              </a:rPr>
              <a:t>• Đóng gói triển khai và cập nhật an toàn hơn.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9525">
            <a:solidFill>
              <a:srgbClr val="F7FBFC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4" name="Shape 4"/>
          <p:cNvSpPr/>
          <p:nvPr/>
        </p:nvSpPr>
        <p:spPr>
          <a:xfrm>
            <a:off x="530352" y="347472"/>
            <a:ext cx="103327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800" b="1">
                <a:solidFill>
                  <a:srgbClr val="0F766E"/>
                </a:solidFill>
              </a:rPr>
              <a:t>DEMO SCRIPT</a:t>
            </a:r>
          </a:p>
        </p:txBody>
      </p:sp>
      <p:sp>
        <p:nvSpPr>
          <p:cNvPr id="5" name="Shape 5"/>
          <p:cNvSpPr/>
          <p:nvPr/>
        </p:nvSpPr>
        <p:spPr>
          <a:xfrm>
            <a:off x="502920" y="566928"/>
            <a:ext cx="10698480" cy="56692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2500" b="1">
                <a:solidFill>
                  <a:srgbClr val="0B2E4A"/>
                </a:solidFill>
              </a:rPr>
              <a:t>Kịch bản demo trước hội đồng</a:t>
            </a:r>
          </a:p>
        </p:txBody>
      </p:sp>
      <p:sp>
        <p:nvSpPr>
          <p:cNvPr id="6" name="Shape 6"/>
          <p:cNvSpPr/>
          <p:nvPr/>
        </p:nvSpPr>
        <p:spPr>
          <a:xfrm>
            <a:off x="10771632" y="6327648"/>
            <a:ext cx="841248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mid"/>
          <a:lstStyle/>
          <a:p>
            <a:pPr algn="r"/>
            <a:r>
              <a:rPr lang="vi-VN" sz="1000" b="1">
                <a:solidFill>
                  <a:srgbClr val="5C7486"/>
                </a:solidFill>
              </a:rPr>
              <a:t>18</a:t>
            </a:r>
          </a:p>
        </p:txBody>
      </p:sp>
      <p:sp>
        <p:nvSpPr>
          <p:cNvPr id="7" name="Shape 7"/>
          <p:cNvSpPr/>
          <p:nvPr/>
        </p:nvSpPr>
        <p:spPr>
          <a:xfrm>
            <a:off x="868680" y="1417320"/>
            <a:ext cx="996696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1. Mở DrowsiGuard Monitoring Hub, chỉ trạng thái ban đầu.</a:t>
            </a:r>
          </a:p>
        </p:txBody>
      </p:sp>
      <p:sp>
        <p:nvSpPr>
          <p:cNvPr id="8" name="Shape 8"/>
          <p:cNvSpPr/>
          <p:nvPr/>
        </p:nvSpPr>
        <p:spPr>
          <a:xfrm>
            <a:off x="868680" y="1856232"/>
            <a:ext cx="996696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2. Khởi động DrowsiGuard Edge Runtime trên Jetson Nano.</a:t>
            </a:r>
          </a:p>
        </p:txBody>
      </p:sp>
      <p:sp>
        <p:nvSpPr>
          <p:cNvPr id="9" name="Shape 9"/>
          <p:cNvSpPr/>
          <p:nvPr/>
        </p:nvSpPr>
        <p:spPr>
          <a:xfrm>
            <a:off x="868680" y="2295144"/>
            <a:ext cx="996696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3. Quét RFID, xác minh khuôn mặt và mở phiên lái.</a:t>
            </a:r>
          </a:p>
        </p:txBody>
      </p:sp>
      <p:sp>
        <p:nvSpPr>
          <p:cNvPr id="10" name="Shape 10"/>
          <p:cNvSpPr/>
          <p:nvPr/>
        </p:nvSpPr>
        <p:spPr>
          <a:xfrm>
            <a:off x="868680" y="2734056"/>
            <a:ext cx="996696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4. Cho camera thấy trạng thái bình thường rồi mô phỏng buồn ngủ.</a:t>
            </a:r>
          </a:p>
        </p:txBody>
      </p:sp>
      <p:sp>
        <p:nvSpPr>
          <p:cNvPr id="11" name="Shape 11"/>
          <p:cNvSpPr/>
          <p:nvPr/>
        </p:nvSpPr>
        <p:spPr>
          <a:xfrm>
            <a:off x="868680" y="3172968"/>
            <a:ext cx="996696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5. Chỉ cảnh báo realtime, lịch sử, vị trí GPS và trạng thái phần cứng.</a:t>
            </a:r>
          </a:p>
        </p:txBody>
      </p:sp>
      <p:sp>
        <p:nvSpPr>
          <p:cNvPr id="12" name="Shape 12"/>
          <p:cNvSpPr/>
          <p:nvPr/>
        </p:nvSpPr>
        <p:spPr>
          <a:xfrm>
            <a:off x="868680" y="3611880"/>
            <a:ext cx="996696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1700">
                <a:solidFill>
                  <a:srgbClr val="123047"/>
                </a:solidFill>
              </a:rPr>
              <a:t>• 6. Kết luận: hệ thống xử lý tại xe và giám sát realtime ở trung tâm.</a:t>
            </a:r>
          </a:p>
        </p:txBody>
      </p:sp>
      <p:sp>
        <p:nvSpPr>
          <p:cNvPr id="13" name="Shape 13"/>
          <p:cNvSpPr/>
          <p:nvPr/>
        </p:nvSpPr>
        <p:spPr>
          <a:xfrm>
            <a:off x="7498080" y="5074920"/>
            <a:ext cx="3337560" cy="658368"/>
          </a:xfrm>
          <a:prstGeom prst="roundRect">
            <a:avLst/>
          </a:prstGeom>
          <a:solidFill>
            <a:srgbClr val="FDF7E7"/>
          </a:solidFill>
          <a:ln w="9525">
            <a:solidFill>
              <a:srgbClr val="E5C669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1300" b="1">
                <a:solidFill>
                  <a:srgbClr val="123047"/>
                </a:solidFill>
              </a:rPr>
              <a:t>Chuẩn bị trước demo:</a:t>
            </a:r>
            <a:br/>
            <a:r>
              <a:rPr lang="vi-VN" sz="1300" b="1">
                <a:solidFill>
                  <a:srgbClr val="123047"/>
                </a:solidFill>
              </a:rPr>
              <a:t>kiểm tra IP Tailscale, camera, RFID, GPS, loa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B2A"/>
          </a:solidFill>
          <a:ln w="9525">
            <a:solidFill>
              <a:srgbClr val="061B2A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73152" tIns="73152" rIns="73152" bIns="73152" anchor="mid"/>
          <a:lstStyle/>
          <a:p>
            <a:pPr algn="l"/>
            <a:r>
              <a:rPr lang="vi-VN" sz="1800">
                <a:solidFill>
                  <a:srgbClr val="123047"/>
                </a:solidFill>
              </a:rPr>
              <a:t/>
            </a:r>
          </a:p>
        </p:txBody>
      </p:sp>
      <p:sp>
        <p:nvSpPr>
          <p:cNvPr id="4" name="Shape 4"/>
          <p:cNvSpPr/>
          <p:nvPr/>
        </p:nvSpPr>
        <p:spPr>
          <a:xfrm>
            <a:off x="530352" y="347472"/>
            <a:ext cx="103327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800" b="1">
                <a:solidFill>
                  <a:srgbClr val="85E4D2"/>
                </a:solidFill>
              </a:rPr>
              <a:t>CLOSING</a:t>
            </a:r>
          </a:p>
        </p:txBody>
      </p:sp>
      <p:sp>
        <p:nvSpPr>
          <p:cNvPr id="5" name="Shape 5"/>
          <p:cNvSpPr/>
          <p:nvPr/>
        </p:nvSpPr>
        <p:spPr>
          <a:xfrm>
            <a:off x="502920" y="566928"/>
            <a:ext cx="10698480" cy="56692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top"/>
          <a:lstStyle/>
          <a:p>
            <a:pPr algn="l"/>
            <a:r>
              <a:rPr lang="vi-VN" sz="2500" b="1">
                <a:solidFill>
                  <a:srgbClr val="FFFFFF"/>
                </a:solidFill>
              </a:rPr>
              <a:t>Kết luận</a:t>
            </a:r>
          </a:p>
        </p:txBody>
      </p:sp>
      <p:sp>
        <p:nvSpPr>
          <p:cNvPr id="6" name="Shape 6"/>
          <p:cNvSpPr/>
          <p:nvPr/>
        </p:nvSpPr>
        <p:spPr>
          <a:xfrm>
            <a:off x="10771632" y="6327648"/>
            <a:ext cx="841248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73152" tIns="73152" rIns="73152" bIns="73152" anchor="mid"/>
          <a:lstStyle/>
          <a:p>
            <a:pPr algn="r"/>
            <a:r>
              <a:rPr lang="vi-VN" sz="1000" b="1">
                <a:solidFill>
                  <a:srgbClr val="B8D7DF"/>
                </a:solidFill>
              </a:rPr>
              <a:t>19</a:t>
            </a:r>
          </a:p>
        </p:txBody>
      </p:sp>
      <p:sp>
        <p:nvSpPr>
          <p:cNvPr id="7" name="Shape 7"/>
          <p:cNvSpPr/>
          <p:nvPr/>
        </p:nvSpPr>
        <p:spPr>
          <a:xfrm>
            <a:off x="822960" y="1417320"/>
            <a:ext cx="9966960" cy="621792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top"/>
          <a:lstStyle/>
          <a:p>
            <a:pPr algn="l"/>
            <a:r>
              <a:rPr lang="vi-VN" sz="2200" b="1">
                <a:solidFill>
                  <a:srgbClr val="FFFFFF"/>
                </a:solidFill>
              </a:rPr>
              <a:t>DrowsiGuard chứng minh được một mô hình hệ thống cảnh báo buồn ngủ có thể chạy cục bộ trên Jetson Nano và giám sát realtime qua web.</a:t>
            </a:r>
          </a:p>
        </p:txBody>
      </p:sp>
      <p:sp>
        <p:nvSpPr>
          <p:cNvPr id="8" name="Shape 8"/>
          <p:cNvSpPr/>
          <p:nvPr/>
        </p:nvSpPr>
        <p:spPr>
          <a:xfrm>
            <a:off x="960120" y="2880360"/>
            <a:ext cx="2834640" cy="914400"/>
          </a:xfrm>
          <a:prstGeom prst="roundRect">
            <a:avLst/>
          </a:prstGeom>
          <a:solidFill>
            <a:srgbClr val="0F766E"/>
          </a:solidFill>
          <a:ln w="9525">
            <a:solidFill>
              <a:srgbClr val="85E4D2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2000" b="1">
                <a:solidFill>
                  <a:srgbClr val="FFFFFF"/>
                </a:solidFill>
              </a:rPr>
              <a:t>Nhận biết</a:t>
            </a:r>
            <a:br/>
            <a:r>
              <a:rPr lang="vi-VN" sz="2000" b="1">
                <a:solidFill>
                  <a:srgbClr val="FFFFFF"/>
                </a:solidFill>
              </a:rPr>
              <a:t>buồn ngủ</a:t>
            </a:r>
          </a:p>
        </p:txBody>
      </p:sp>
      <p:sp>
        <p:nvSpPr>
          <p:cNvPr id="9" name="Shape 9"/>
          <p:cNvSpPr/>
          <p:nvPr/>
        </p:nvSpPr>
        <p:spPr>
          <a:xfrm>
            <a:off x="4663440" y="2880360"/>
            <a:ext cx="2834640" cy="914400"/>
          </a:xfrm>
          <a:prstGeom prst="roundRect">
            <a:avLst/>
          </a:prstGeom>
          <a:solidFill>
            <a:srgbClr val="123047"/>
          </a:solidFill>
          <a:ln w="9525">
            <a:solidFill>
              <a:srgbClr val="85E4D2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2000" b="1">
                <a:solidFill>
                  <a:srgbClr val="FFFFFF"/>
                </a:solidFill>
              </a:rPr>
              <a:t>Cảnh báo</a:t>
            </a:r>
            <a:br/>
            <a:r>
              <a:rPr lang="vi-VN" sz="2000" b="1">
                <a:solidFill>
                  <a:srgbClr val="FFFFFF"/>
                </a:solidFill>
              </a:rPr>
              <a:t>kịp thời</a:t>
            </a:r>
          </a:p>
        </p:txBody>
      </p:sp>
      <p:sp>
        <p:nvSpPr>
          <p:cNvPr id="10" name="Shape 10"/>
          <p:cNvSpPr/>
          <p:nvPr/>
        </p:nvSpPr>
        <p:spPr>
          <a:xfrm>
            <a:off x="8366760" y="2880360"/>
            <a:ext cx="2834640" cy="914400"/>
          </a:xfrm>
          <a:prstGeom prst="roundRect">
            <a:avLst/>
          </a:prstGeom>
          <a:solidFill>
            <a:srgbClr val="0F766E"/>
          </a:solidFill>
          <a:ln w="9525">
            <a:solidFill>
              <a:srgbClr val="85E4D2"/>
            </a:solidFill>
          </a:ln>
        </p:spPr>
        <p:txBody>
          <a:bodyPr wrap="square" lIns="73152" tIns="73152" rIns="73152" bIns="73152" anchor="mid"/>
          <a:lstStyle/>
          <a:p>
            <a:pPr algn="ctr"/>
            <a:r>
              <a:rPr lang="vi-VN" sz="2000" b="1">
                <a:solidFill>
                  <a:srgbClr val="FFFFFF"/>
                </a:solidFill>
              </a:rPr>
              <a:t>Giám sát</a:t>
            </a:r>
            <a:br/>
            <a:r>
              <a:rPr lang="vi-VN" sz="2000" b="1">
                <a:solidFill>
                  <a:srgbClr val="FFFFFF"/>
                </a:solidFill>
              </a:rPr>
              <a:t>realtime</a:t>
            </a:r>
          </a:p>
        </p:txBody>
      </p:sp>
      <p:sp>
        <p:nvSpPr>
          <p:cNvPr id="11" name="Shape 11"/>
          <p:cNvSpPr/>
          <p:nvPr/>
        </p:nvSpPr>
        <p:spPr>
          <a:xfrm>
            <a:off x="822960" y="5074920"/>
            <a:ext cx="9966960" cy="329184"/>
          </a:xfrm>
          <a:prstGeom prst="roundRect">
            <a:avLst/>
          </a:prstGeom>
          <a:noFill/>
          <a:ln>
            <a:noFill/>
          </a:ln>
        </p:spPr>
        <p:txBody>
          <a:bodyPr wrap="square" lIns="45720" tIns="45720" rIns="45720" bIns="45720" anchor="mid"/>
          <a:lstStyle/>
          <a:p>
            <a:pPr algn="ctr"/>
            <a:r>
              <a:rPr lang="vi-VN" sz="2000" b="1">
                <a:solidFill>
                  <a:srgbClr val="D8F0F5"/>
                </a:solidFill>
              </a:rPr>
              <a:t>Em xin cảm ơn thầy cô và hội đồng đã lắng nghe.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wsiGuard">
  <a:themeElements>
    <a:clrScheme name="DrowsiGuard">
      <a:dk1>
        <a:srgbClr val="061B2A"/>
      </a:dk1>
      <a:lt1>
        <a:srgbClr val="FFFFFF"/>
      </a:lt1>
      <a:dk2>
        <a:srgbClr val="0B2E4A"/>
      </a:dk2>
      <a:lt2>
        <a:srgbClr val="F7FBFC"/>
      </a:lt2>
      <a:accent1>
        <a:srgbClr val="0F766E"/>
      </a:accent1>
      <a:accent2>
        <a:srgbClr val="17A673"/>
      </a:accent2>
      <a:accent3>
        <a:srgbClr val="F2B705"/>
      </a:accent3>
      <a:accent4>
        <a:srgbClr val="D64545"/>
      </a:accent4>
      <a:accent5>
        <a:srgbClr val="5C7486"/>
      </a:accent5>
      <a:accent6>
        <a:srgbClr val="D8F0F5"/>
      </a:accent6>
      <a:hlink>
        <a:srgbClr val="0F766E"/>
      </a:hlink>
      <a:folHlink>
        <a:srgbClr val="5C7486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DrowsiGuard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19</Slides>
  <Company>DrowsiGuard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DrowsiGuard - Bao cao do an tot nghiep</dc:title>
  <dc:subject>AI drowsiness warning system</dc:subject>
  <dc:creator>Codex</dc:creator>
  <cp:lastModifiedBy>Codex</cp:lastModifiedBy>
  <dcterms:created xsi:type="dcterms:W3CDTF">2026-05-11T13:53:01Z</dcterms:created>
  <dcterms:modified xsi:type="dcterms:W3CDTF">2026-05-11T13:53:01Z</dcterms:modified>
</cp:coreProperties>
</file>